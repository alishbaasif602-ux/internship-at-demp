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792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64008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3" name="Shape 1"/>
          <p:cNvSpPr/>
          <p:nvPr/>
        </p:nvSpPr>
        <p:spPr>
          <a:xfrm>
            <a:off x="9884664" y="64008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Shape 2"/>
          <p:cNvSpPr/>
          <p:nvPr/>
        </p:nvSpPr>
        <p:spPr>
          <a:xfrm>
            <a:off x="10076688" y="64008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Shape 3"/>
          <p:cNvSpPr/>
          <p:nvPr/>
        </p:nvSpPr>
        <p:spPr>
          <a:xfrm>
            <a:off x="10268712" y="64008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6" name="Shape 4"/>
          <p:cNvSpPr/>
          <p:nvPr/>
        </p:nvSpPr>
        <p:spPr>
          <a:xfrm>
            <a:off x="10460736" y="64008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7" name="Shape 5"/>
          <p:cNvSpPr/>
          <p:nvPr/>
        </p:nvSpPr>
        <p:spPr>
          <a:xfrm>
            <a:off x="10652760" y="64008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10844784" y="64008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9" name="Shape 7"/>
          <p:cNvSpPr/>
          <p:nvPr/>
        </p:nvSpPr>
        <p:spPr>
          <a:xfrm>
            <a:off x="11036808" y="64008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Shape 8"/>
          <p:cNvSpPr/>
          <p:nvPr/>
        </p:nvSpPr>
        <p:spPr>
          <a:xfrm>
            <a:off x="9692640" y="832104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Shape 9"/>
          <p:cNvSpPr/>
          <p:nvPr/>
        </p:nvSpPr>
        <p:spPr>
          <a:xfrm>
            <a:off x="9884664" y="83210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076688" y="832104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268712" y="83210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60736" y="83210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52760" y="832104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844784" y="83210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1036808" y="83210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18" name="Shape 16"/>
          <p:cNvSpPr/>
          <p:nvPr/>
        </p:nvSpPr>
        <p:spPr>
          <a:xfrm>
            <a:off x="9692640" y="1024128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9" name="Shape 17"/>
          <p:cNvSpPr/>
          <p:nvPr/>
        </p:nvSpPr>
        <p:spPr>
          <a:xfrm>
            <a:off x="9884664" y="1024128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076688" y="102412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68712" y="102412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60736" y="1024128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652760" y="1024128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844784" y="102412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25" name="Shape 23"/>
          <p:cNvSpPr/>
          <p:nvPr/>
        </p:nvSpPr>
        <p:spPr>
          <a:xfrm>
            <a:off x="11036808" y="1024128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9692640" y="1216152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884664" y="1216152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28" name="Shape 26"/>
          <p:cNvSpPr/>
          <p:nvPr/>
        </p:nvSpPr>
        <p:spPr>
          <a:xfrm>
            <a:off x="10076688" y="1216152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68712" y="1216152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460736" y="1216152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52760" y="1216152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844784" y="1216152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036808" y="1216152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34" name="Shape 32"/>
          <p:cNvSpPr/>
          <p:nvPr/>
        </p:nvSpPr>
        <p:spPr>
          <a:xfrm>
            <a:off x="9692640" y="1408176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5" name="Shape 33"/>
          <p:cNvSpPr/>
          <p:nvPr/>
        </p:nvSpPr>
        <p:spPr>
          <a:xfrm>
            <a:off x="9884664" y="1408176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36" name="Shape 34"/>
          <p:cNvSpPr/>
          <p:nvPr/>
        </p:nvSpPr>
        <p:spPr>
          <a:xfrm>
            <a:off x="10076688" y="1408176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10268712" y="1408176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38" name="Shape 36"/>
          <p:cNvSpPr/>
          <p:nvPr/>
        </p:nvSpPr>
        <p:spPr>
          <a:xfrm>
            <a:off x="10460736" y="1408176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52760" y="1408176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10844784" y="1408176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41" name="Shape 39"/>
          <p:cNvSpPr/>
          <p:nvPr/>
        </p:nvSpPr>
        <p:spPr>
          <a:xfrm>
            <a:off x="11036808" y="1408176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42" name="Shape 40"/>
          <p:cNvSpPr/>
          <p:nvPr/>
        </p:nvSpPr>
        <p:spPr>
          <a:xfrm>
            <a:off x="9692640" y="160020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3" name="Shape 41"/>
          <p:cNvSpPr/>
          <p:nvPr/>
        </p:nvSpPr>
        <p:spPr>
          <a:xfrm>
            <a:off x="9884664" y="160020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10076688" y="160020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5" name="Shape 43"/>
          <p:cNvSpPr/>
          <p:nvPr/>
        </p:nvSpPr>
        <p:spPr>
          <a:xfrm>
            <a:off x="10268712" y="160020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6" name="Shape 44"/>
          <p:cNvSpPr/>
          <p:nvPr/>
        </p:nvSpPr>
        <p:spPr>
          <a:xfrm>
            <a:off x="10460736" y="160020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10652760" y="160020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8" name="Shape 46"/>
          <p:cNvSpPr/>
          <p:nvPr/>
        </p:nvSpPr>
        <p:spPr>
          <a:xfrm>
            <a:off x="10844784" y="1600200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036808" y="1600200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9692640" y="1792224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51" name="Shape 49"/>
          <p:cNvSpPr/>
          <p:nvPr/>
        </p:nvSpPr>
        <p:spPr>
          <a:xfrm>
            <a:off x="9884664" y="179222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52" name="Shape 50"/>
          <p:cNvSpPr/>
          <p:nvPr/>
        </p:nvSpPr>
        <p:spPr>
          <a:xfrm>
            <a:off x="10076688" y="179222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53" name="Shape 51"/>
          <p:cNvSpPr/>
          <p:nvPr/>
        </p:nvSpPr>
        <p:spPr>
          <a:xfrm>
            <a:off x="10268712" y="1792224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0460736" y="179222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55" name="Shape 53"/>
          <p:cNvSpPr/>
          <p:nvPr/>
        </p:nvSpPr>
        <p:spPr>
          <a:xfrm>
            <a:off x="10652760" y="1792224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6" name="Shape 54"/>
          <p:cNvSpPr/>
          <p:nvPr/>
        </p:nvSpPr>
        <p:spPr>
          <a:xfrm>
            <a:off x="10844784" y="1792224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57" name="Shape 55"/>
          <p:cNvSpPr/>
          <p:nvPr/>
        </p:nvSpPr>
        <p:spPr>
          <a:xfrm>
            <a:off x="11036808" y="1792224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58" name="Shape 56"/>
          <p:cNvSpPr/>
          <p:nvPr/>
        </p:nvSpPr>
        <p:spPr>
          <a:xfrm>
            <a:off x="9692640" y="1984248"/>
            <a:ext cx="146304" cy="1463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9" name="Shape 57"/>
          <p:cNvSpPr/>
          <p:nvPr/>
        </p:nvSpPr>
        <p:spPr>
          <a:xfrm>
            <a:off x="9884664" y="198424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60" name="Shape 58"/>
          <p:cNvSpPr/>
          <p:nvPr/>
        </p:nvSpPr>
        <p:spPr>
          <a:xfrm>
            <a:off x="10076688" y="1984248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61" name="Shape 59"/>
          <p:cNvSpPr/>
          <p:nvPr/>
        </p:nvSpPr>
        <p:spPr>
          <a:xfrm>
            <a:off x="10268712" y="198424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62" name="Shape 60"/>
          <p:cNvSpPr/>
          <p:nvPr/>
        </p:nvSpPr>
        <p:spPr>
          <a:xfrm>
            <a:off x="10460736" y="198424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63" name="Shape 61"/>
          <p:cNvSpPr/>
          <p:nvPr/>
        </p:nvSpPr>
        <p:spPr>
          <a:xfrm>
            <a:off x="10652760" y="1984248"/>
            <a:ext cx="146304" cy="146304"/>
          </a:xfrm>
          <a:prstGeom prst="rect">
            <a:avLst/>
          </a:prstGeom>
          <a:solidFill>
            <a:srgbClr val="4C6FFF"/>
          </a:solidFill>
          <a:ln/>
        </p:spPr>
      </p:sp>
      <p:sp>
        <p:nvSpPr>
          <p:cNvPr id="64" name="Shape 62"/>
          <p:cNvSpPr/>
          <p:nvPr/>
        </p:nvSpPr>
        <p:spPr>
          <a:xfrm>
            <a:off x="10844784" y="198424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36808" y="1984248"/>
            <a:ext cx="146304" cy="146304"/>
          </a:xfrm>
          <a:prstGeom prst="rect">
            <a:avLst/>
          </a:prstGeom>
          <a:solidFill>
            <a:srgbClr val="232C52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PROJECT</a:t>
            </a:r>
            <a:endParaRPr lang="en-US" sz="1400" dirty="0"/>
          </a:p>
        </p:txBody>
      </p:sp>
      <p:sp>
        <p:nvSpPr>
          <p:cNvPr id="67" name="Text 65"/>
          <p:cNvSpPr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Fashion-MNIST Image Classification</a:t>
            </a:r>
            <a:endParaRPr lang="en-US" sz="4000" dirty="0"/>
          </a:p>
        </p:txBody>
      </p:sp>
      <p:sp>
        <p:nvSpPr>
          <p:cNvPr id="68" name="Text 66"/>
          <p:cNvSpPr/>
          <p:nvPr/>
        </p:nvSpPr>
        <p:spPr>
          <a:xfrm>
            <a:off x="640080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vs. Fully-Connected Networks</a:t>
            </a:r>
            <a:endParaRPr lang="en-US" sz="2000" dirty="0"/>
          </a:p>
        </p:txBody>
      </p:sp>
      <p:sp>
        <p:nvSpPr>
          <p:cNvPr id="70" name="Text 68"/>
          <p:cNvSpPr/>
          <p:nvPr/>
        </p:nvSpPr>
        <p:spPr>
          <a:xfrm>
            <a:off x="640080" y="42062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PyTorch  </a:t>
            </a:r>
            <a:r>
              <a:rPr lang="en-US" sz="13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10-Class Clothing Classification  </a:t>
            </a:r>
            <a:r>
              <a:rPr lang="en-US" sz="13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3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Images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 CNN outperform a standard neural network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recognizing clothing?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381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606040"/>
            <a:ext cx="502920" cy="50292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PyTorch classifiers — a fully-connected ANN baseline and a Convolutional Neural Network — trained on identical data splits.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381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606040"/>
            <a:ext cx="502920" cy="50292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on accuracy, precision, recall, F1 score, training time, and parameter count.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101600" dist="38100" dir="5400000" algn="bl" rotWithShape="0">
              <a:srgbClr val="1B244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606040"/>
            <a:ext cx="502920" cy="502920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58200" y="3291840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learning curves, confusion matrices, and misclassified samples to understand where and why each model fails.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Fashion-MNIST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1B24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64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29514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grayscale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68980" y="169164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1B2440"/>
          </a:solidFill>
          <a:ln/>
        </p:spPr>
      </p:sp>
      <p:sp>
        <p:nvSpPr>
          <p:cNvPr id="8" name="Text 6"/>
          <p:cNvSpPr/>
          <p:nvPr/>
        </p:nvSpPr>
        <p:spPr>
          <a:xfrm>
            <a:off x="3451860" y="176479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× 28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451860" y="229514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per image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1B244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99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22960" y="35295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68980" y="2926080"/>
            <a:ext cx="2423160" cy="1005840"/>
          </a:xfrm>
          <a:prstGeom prst="roundRect">
            <a:avLst>
              <a:gd name="adj" fmla="val 9091"/>
            </a:avLst>
          </a:prstGeom>
          <a:solidFill>
            <a:srgbClr val="1B2440"/>
          </a:solidFill>
          <a:ln/>
        </p:spPr>
      </p:sp>
      <p:sp>
        <p:nvSpPr>
          <p:cNvPr id="14" name="Text 12"/>
          <p:cNvSpPr/>
          <p:nvPr/>
        </p:nvSpPr>
        <p:spPr>
          <a:xfrm>
            <a:off x="3451860" y="299923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/ 10 / 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51860" y="3529584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 (%)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labels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122072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389120"/>
            <a:ext cx="12207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T-shirt/top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997964" y="4389120"/>
            <a:ext cx="83667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97964" y="4389120"/>
            <a:ext cx="836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Trouser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71800" y="4389120"/>
            <a:ext cx="9326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4389120"/>
            <a:ext cx="932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041648" y="4389120"/>
            <a:ext cx="6446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41648" y="4389120"/>
            <a:ext cx="644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Dress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23460" y="4389120"/>
            <a:ext cx="5486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3460" y="43891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892040"/>
            <a:ext cx="74066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892040"/>
            <a:ext cx="740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Sandal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517904" y="4892040"/>
            <a:ext cx="6446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17904" y="4892040"/>
            <a:ext cx="6446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299716" y="4892040"/>
            <a:ext cx="83667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99716" y="4892040"/>
            <a:ext cx="8366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Sneaker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273552" y="4892040"/>
            <a:ext cx="45262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73552" y="4892040"/>
            <a:ext cx="4526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863340" y="4892040"/>
            <a:ext cx="11247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63340" y="4892040"/>
            <a:ext cx="1124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Ankle boot</a:t>
            </a:r>
            <a:endParaRPr lang="en-US" sz="1050" dirty="0"/>
          </a:p>
        </p:txBody>
      </p:sp>
      <p:pic>
        <p:nvPicPr>
          <p:cNvPr id="37" name="Image 0" descr="/home/claude/pptx_build/images/cnn_sample_predic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91640"/>
            <a:ext cx="5394960" cy="2332466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26480" y="411554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test images with CNN predictions (green = correct)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&amp; Augmentation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Reshape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3832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CSV (label + 784 pixel columns) and reshape each row to a 28×28 image.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4612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20440" y="20116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74904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4904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Split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49040" y="33832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train / 10% validation / 15% test, stratified by class to preserve balance.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2648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2940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29400" y="33832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pixel intensities from [0, 255] to [0, 1] for stable gradient descent.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006840" y="3611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281160" y="2011680"/>
            <a:ext cx="2651760" cy="36576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09760" y="22402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09760" y="2880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Augment (train only)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509760" y="3383280"/>
            <a:ext cx="219456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horizontal flip + small random pixel shift to improve generalization.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Baseline vs. CNN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232C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 (Fully Connected)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256032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5603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(784)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0120" y="318211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18211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512 → ReLU → Dropout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60120" y="3803904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80390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256 → ReLU → Dropout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60120" y="44256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42569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→ ReLU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60120" y="5047488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4748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10 (output)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91640"/>
            <a:ext cx="5303520" cy="4663440"/>
          </a:xfrm>
          <a:prstGeom prst="roundRect">
            <a:avLst>
              <a:gd name="adj" fmla="val 2353"/>
            </a:avLst>
          </a:prstGeom>
          <a:solidFill>
            <a:srgbClr val="232C52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9202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(Convolutional)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256032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2560320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1→32 (3×3) → BN → ReLU → MaxPool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583680" y="318211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82112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32→64 (3×3) → BN → ReLU → MaxPool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83680" y="3803904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20840" y="3803904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(64×7×7)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583680" y="44256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425696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128 → ReLU → Dropout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83680" y="5047488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1B2440"/>
          </a:solidFill>
          <a:ln w="12700">
            <a:solidFill>
              <a:srgbClr val="4C6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5047488"/>
            <a:ext cx="43891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10 (output)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Hyperparameters &amp; Protocol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255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91840" y="201168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578608"/>
            <a:ext cx="45720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7860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257860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3145536"/>
            <a:ext cx="45720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14553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145536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712464"/>
            <a:ext cx="45720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12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712464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279392"/>
            <a:ext cx="45720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79392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91840" y="4279392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4400" y="4846320"/>
            <a:ext cx="4572000" cy="0"/>
          </a:xfrm>
          <a:prstGeom prst="line">
            <a:avLst/>
          </a:prstGeom>
          <a:noFill/>
          <a:ln w="12700">
            <a:solidFill>
              <a:srgbClr val="E2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84632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484632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/ GPU (auto-detected)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920240"/>
            <a:ext cx="5394960" cy="3584448"/>
          </a:xfrm>
          <a:prstGeom prst="roundRect">
            <a:avLst>
              <a:gd name="adj" fmla="val 2551"/>
            </a:avLst>
          </a:prstGeom>
          <a:solidFill>
            <a:srgbClr val="1B2440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Comparison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92240" y="2743200"/>
            <a:ext cx="46634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ANN and the CNN are trained with identical data splits, batch size, optimizer, learning rate, and epoch count — isolating architecture as the only variable that differs between them.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92240" y="4160520"/>
            <a:ext cx="46634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is preserved through stratified splitting, and light augmentation (flip + shift) is applied only to the training set — never to validation or test data.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vs. Validation, Over 10 Epochs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6816499" cy="5074920"/>
          </a:xfrm>
          <a:prstGeom prst="roundRect">
            <a:avLst>
              <a:gd name="adj" fmla="val 108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pic>
        <p:nvPicPr>
          <p:cNvPr id="5" name="Image 0" descr="/home/claude/pptx_build/images/combined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6725059" cy="4983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5179" y="1600200"/>
            <a:ext cx="3744821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59499" y="1737360"/>
            <a:ext cx="32876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 convergence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959499" y="2103120"/>
            <a:ext cx="32876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CNN's validation loss drops below the ANN's within 2 epochs and keeps falling.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5179" y="3200400"/>
            <a:ext cx="3744821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9499" y="3337560"/>
            <a:ext cx="32876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overfitting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959499" y="3703320"/>
            <a:ext cx="32876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train/val curves stay close together; the ANN's val accuracy plateaus earlier.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5179" y="4800600"/>
            <a:ext cx="3744821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959499" y="4937760"/>
            <a:ext cx="32876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ceiling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959499" y="5303520"/>
            <a:ext cx="328762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validation accuracy reaches ~91%, versus ~86% for the ANN, by epoch 10.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Comparison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6675120" cy="38404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(macro)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(macro)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 (macro)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FBF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91.49%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58.7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336.0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C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567,434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C7CEE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421,834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3C6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00200"/>
            <a:ext cx="3840480" cy="1965960"/>
          </a:xfrm>
          <a:prstGeom prst="roundRect">
            <a:avLst>
              <a:gd name="adj" fmla="val 4651"/>
            </a:avLst>
          </a:prstGeom>
          <a:solidFill>
            <a:srgbClr val="232C52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783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+4.82 pts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955280" y="251460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 of CNN over ANN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680960" y="379476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232C52"/>
          </a:solidFill>
          <a:ln/>
        </p:spPr>
      </p:sp>
      <p:sp>
        <p:nvSpPr>
          <p:cNvPr id="4" name="Text 6"/>
          <p:cNvSpPr/>
          <p:nvPr/>
        </p:nvSpPr>
        <p:spPr>
          <a:xfrm>
            <a:off x="7955280" y="39776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 fewer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955280" y="4663440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than the ANN, despite higher accuracy — convolution shares weights spatially.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CNN Still Gets Confused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45323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  <a:effectLst>
            <a:outerShdw blurRad="76200" dist="25400" dir="5400000" algn="bl" rotWithShape="0">
              <a:srgbClr val="1B2440">
                <a:alpha val="10000"/>
              </a:srgbClr>
            </a:outerShdw>
          </a:effectLst>
        </p:spPr>
      </p:sp>
      <p:pic>
        <p:nvPicPr>
          <p:cNvPr id="5" name="Image 0" descr="/home/claude/pptx_build/images/cnn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63040"/>
            <a:ext cx="5361790" cy="4892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67630" y="1417320"/>
            <a:ext cx="506237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87670" y="1691640"/>
            <a:ext cx="44222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Shirt is the hardest class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687670" y="2148840"/>
            <a:ext cx="44222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129 shirts were misclassified as T-shirts, and 56 as coats — the CNN struggles most where garments share silhouette and texture at low resolution.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67630" y="3977640"/>
            <a:ext cx="506237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E2E6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87670" y="4251960"/>
            <a:ext cx="44222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Upper-body garments overlap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687670" y="4709160"/>
            <a:ext cx="442229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Pullover, Coat, and Dress also confuse with each other more than with footwear or bags — the strongest diagonal is on Trouser, Sandal, Sneaker, and Bag.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4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4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CNNs Win — With Fewer Parameters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09728" cy="109728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10512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beat the ANN baseline on every metric — accuracy, precision, recall, and F1 — while using 26% fewer parameters.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889504"/>
            <a:ext cx="109728" cy="109728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706624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+ pooling captures local spatial patterns (edges, textures, shapes) that a flattened fully-connected network cannot exploit directly.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785616"/>
            <a:ext cx="109728" cy="109728"/>
          </a:xfrm>
          <a:prstGeom prst="ellipse">
            <a:avLst/>
          </a:prstGeom>
          <a:solidFill>
            <a:srgbClr val="4C6FFF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602736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DC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 training time (336s vs 59s) is a reasonable trade for a meaningfully more accurate and more efficient model.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052560" y="1920240"/>
            <a:ext cx="2514600" cy="3566160"/>
          </a:xfrm>
          <a:prstGeom prst="roundRect">
            <a:avLst>
              <a:gd name="adj" fmla="val 3636"/>
            </a:avLst>
          </a:prstGeom>
          <a:solidFill>
            <a:srgbClr val="232C52"/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6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281160" y="260604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Deeper CNN / residual blocks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281160" y="326440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Learning-rate scheduling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281160" y="3922776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Test-time augmentation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281160" y="4581144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Class-weighted loss for Shirt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60807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trained CNN (.pth) · comparison table (.csv) · training/validation plots · this presentation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Fashion-MNIST Image Classification — CNN vs ANN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845</Words>
  <Application>Microsoft Office PowerPoint</Application>
  <PresentationFormat>Widescreen</PresentationFormat>
  <Paragraphs>168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Alishba asif</cp:lastModifiedBy>
  <cp:revision>2</cp:revision>
  <dcterms:created xsi:type="dcterms:W3CDTF">2026-08-04T02:56:28Z</dcterms:created>
  <dcterms:modified xsi:type="dcterms:W3CDTF">2026-08-04T03:01:05Z</dcterms:modified>
</cp:coreProperties>
</file>