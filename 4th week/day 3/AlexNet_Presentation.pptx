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Top-5 Error (%)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B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Best non-CNN
(SIFT+FVs)</c:v>
                </c:pt>
                <c:pt idx="1">
                  <c:v>AlexNet
(1 CNN)</c:v>
                </c:pt>
                <c:pt idx="2">
                  <c:v>AlexNet
(5-CNN avg)</c:v>
                </c:pt>
                <c:pt idx="3">
                  <c:v>AlexNet
(7-CNN avg,
pre-trained)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26.2</c:v>
                </c:pt>
                <c:pt idx="1">
                  <c:v>18.2</c:v>
                </c:pt>
                <c:pt idx="2">
                  <c:v>16.399999999999999</c:v>
                </c:pt>
                <c:pt idx="3">
                  <c:v>15.3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88-4080-81BE-259073B5B9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178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A6178"/>
                    </a:solidFill>
                    <a:latin typeface="Arial"/>
                  </a:rPr>
                  <a:t>Top-5 Error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79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2B3980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2B398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RESEARCH PAPER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ImageNet Classification with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Convolutional Neural Networks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Krizhevsky · Ilya Sutskever · Geoffrey Hinton  (2012)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67512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1.2M+ high-resolution images into 1,000 object categories (ImageNet / ILSVRC-2010/2012).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methods (hand-crafted features + shallow ML) plateaued in accuracy on large, realistic image sets.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vary in scale, position, and appearance — need a model that learns features directly from pixels.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large, learnable model that generalizes well despite huge intra-class variability.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554480"/>
            <a:ext cx="4114800" cy="448056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9202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49808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categories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3246120"/>
            <a:ext cx="3200400" cy="0"/>
          </a:xfrm>
          <a:prstGeom prst="line">
            <a:avLst/>
          </a:prstGeom>
          <a:noFill/>
          <a:ln w="12700">
            <a:solidFill>
              <a:srgbClr val="3D4A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34290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49808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(15M total in ImageNet)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4800600"/>
            <a:ext cx="3200400" cy="0"/>
          </a:xfrm>
          <a:prstGeom prst="line">
            <a:avLst/>
          </a:prstGeom>
          <a:noFill/>
          <a:ln w="12700">
            <a:solidFill>
              <a:srgbClr val="3D4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4983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/ Top-5 error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349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 used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ImageNet Classification with Deep CNNs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Bigger, richer datasets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offered scale/variety far beyond CIFAR/MNIST-style benchmarks.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370332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2697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capacity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4747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recognition needs high-capacity models with strong prior knowledge for data the model hasn't seen.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940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697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fit images naturally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4747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connections/parameters than dense nets of similar size, via locality &amp; shared weights.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32688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955548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5554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09760" y="2697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was finally ready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9760" y="34747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made training large CNNs on millions of images computationally feasible.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ImageNet Classification with Deep CNNs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AlexNet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learned layers — 5 convolutional + 3 fully connected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8A8F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14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3063240"/>
            <a:ext cx="112014" cy="0"/>
          </a:xfrm>
          <a:prstGeom prst="line">
            <a:avLst/>
          </a:prstGeom>
          <a:noFill/>
          <a:ln w="19050">
            <a:solidFill>
              <a:srgbClr val="5A617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57934" y="237744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757934" y="2514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03654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@ 11×11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00934" y="3063240"/>
            <a:ext cx="112014" cy="0"/>
          </a:xfrm>
          <a:prstGeom prst="line">
            <a:avLst/>
          </a:prstGeom>
          <a:noFill/>
          <a:ln w="19050">
            <a:solidFill>
              <a:srgbClr val="5A61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12948" y="237744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012948" y="2514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58668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@ 5×5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55948" y="3063240"/>
            <a:ext cx="112014" cy="0"/>
          </a:xfrm>
          <a:prstGeom prst="line">
            <a:avLst/>
          </a:prstGeom>
          <a:noFill/>
          <a:ln w="19050">
            <a:solidFill>
              <a:srgbClr val="5A61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67962" y="237744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267962" y="2514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13682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@ 3×3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10962" y="3063240"/>
            <a:ext cx="112014" cy="0"/>
          </a:xfrm>
          <a:prstGeom prst="line">
            <a:avLst/>
          </a:prstGeom>
          <a:noFill/>
          <a:ln w="19050">
            <a:solidFill>
              <a:srgbClr val="5A61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22976" y="237744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522976" y="2514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68696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@ 3×3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65976" y="3063240"/>
            <a:ext cx="112014" cy="0"/>
          </a:xfrm>
          <a:prstGeom prst="line">
            <a:avLst/>
          </a:prstGeom>
          <a:noFill/>
          <a:ln w="19050">
            <a:solidFill>
              <a:srgbClr val="5A617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77990" y="237744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777990" y="2514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23710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@ 3×3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20990" y="3063240"/>
            <a:ext cx="112014" cy="0"/>
          </a:xfrm>
          <a:prstGeom prst="line">
            <a:avLst/>
          </a:prstGeom>
          <a:noFill/>
          <a:ln w="19050">
            <a:solidFill>
              <a:srgbClr val="5A617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33004" y="237744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3D5AFE"/>
          </a:solidFill>
          <a:ln/>
        </p:spPr>
      </p:sp>
      <p:sp>
        <p:nvSpPr>
          <p:cNvPr id="29" name="Text 27"/>
          <p:cNvSpPr/>
          <p:nvPr/>
        </p:nvSpPr>
        <p:spPr>
          <a:xfrm>
            <a:off x="8033004" y="2514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78724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76004" y="3063240"/>
            <a:ext cx="112014" cy="0"/>
          </a:xfrm>
          <a:prstGeom prst="line">
            <a:avLst/>
          </a:prstGeom>
          <a:noFill/>
          <a:ln w="19050">
            <a:solidFill>
              <a:srgbClr val="5A61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288018" y="237744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3D5AFE"/>
          </a:solidFill>
          <a:ln/>
        </p:spPr>
      </p:sp>
      <p:sp>
        <p:nvSpPr>
          <p:cNvPr id="33" name="Text 31"/>
          <p:cNvSpPr/>
          <p:nvPr/>
        </p:nvSpPr>
        <p:spPr>
          <a:xfrm>
            <a:off x="9288018" y="2514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33738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431018" y="3063240"/>
            <a:ext cx="112014" cy="0"/>
          </a:xfrm>
          <a:prstGeom prst="line">
            <a:avLst/>
          </a:prstGeom>
          <a:noFill/>
          <a:ln w="19050">
            <a:solidFill>
              <a:srgbClr val="5A617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543032" y="2377440"/>
            <a:ext cx="1143000" cy="1371600"/>
          </a:xfrm>
          <a:prstGeom prst="roundRect">
            <a:avLst>
              <a:gd name="adj" fmla="val 4800"/>
            </a:avLst>
          </a:prstGeom>
          <a:solidFill>
            <a:srgbClr val="C1121F"/>
          </a:solidFill>
          <a:ln/>
        </p:spPr>
      </p:sp>
      <p:sp>
        <p:nvSpPr>
          <p:cNvPr id="37" name="Text 35"/>
          <p:cNvSpPr/>
          <p:nvPr/>
        </p:nvSpPr>
        <p:spPr>
          <a:xfrm>
            <a:off x="10543032" y="2514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88752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1000-way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160520"/>
            <a:ext cx="228600" cy="228600"/>
          </a:xfrm>
          <a:prstGeom prst="rect">
            <a:avLst/>
          </a:prstGeom>
          <a:solidFill>
            <a:srgbClr val="8A8FBF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377440" y="4160520"/>
            <a:ext cx="2286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2670048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ReLU (+ pool/norm)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94960" y="4160520"/>
            <a:ext cx="228600" cy="2286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44" name="Text 42"/>
          <p:cNvSpPr/>
          <p:nvPr/>
        </p:nvSpPr>
        <p:spPr>
          <a:xfrm>
            <a:off x="5687568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+ ReLU + Dropout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12480" y="4160520"/>
            <a:ext cx="228600" cy="2286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6" name="Text 44"/>
          <p:cNvSpPr/>
          <p:nvPr/>
        </p:nvSpPr>
        <p:spPr>
          <a:xfrm>
            <a:off x="8705088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(Softmax)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" y="4892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million parameters, 650,000 neurons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 GTX 580 GPUs (3GB each) — network split across GPUs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activations, local response normalization, overlapping max-pooling, dropout in FC layers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ImageNet Classification with Deep CNNs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Innovations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9385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Non-saturating f(x)=max(0,x) trains several times faster than tanh/sigmoid.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4544568" y="19385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Multi-GPU Training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4568" y="2423160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split across 2 GPUs to fit model size and speed up training.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9328" y="19385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2396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Response Normalization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2423160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inhibition across feature maps improves generalization.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41330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Max-Pooling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4617720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windows overlap (stride &lt; window size), reducing overfitting slightly.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44568" y="41330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44568" y="4617720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zeroes 50% of FC-layer neurons during training to curb co-adaptation.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39328" y="41330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339328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2396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39328" y="4617720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translations/flips + PCA color jitter cheaply expand the training set.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ImageNet Classification with Deep CNNs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Training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/ ILSVRC-2010 &amp; 2012 subsets (1000 classes)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down-sampled to 256×256, random 224×224 crops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Descent: momentum 0.9, weight decay 0.0005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128, learning rate 0.01 (manually reduced)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training epochs over 5–6 days on two GPUs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422392" cy="443484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Overfitting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2402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augmentation: crops, horizontal flips, RGB intensity shifts (PCA)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(p=0.5) on the two fully-connected layers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acted as a regularizer, not just optimization aid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10-crop averaging at test 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ImageNet Classification with Deep CNNs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error rate on ILSVRC-2012 test set — lower is better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91640"/>
            <a:ext cx="3794760" cy="4297680"/>
          </a:xfrm>
          <a:prstGeom prst="roundRect">
            <a:avLst>
              <a:gd name="adj" fmla="val 2410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233172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ILSVRC-2012 by a large margin over the runner-up.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10 percentage-point drop in top-5 error vs. prior best.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learned features beat hand-engineered ones (SIFT + Fisher Vectors).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mattered: removing any conv layer hurt accuracy.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ImageNet Classification with Deep CNNs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562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jump in ImageNet accuracy — proved deep CNNs beat hand-crafted features at scale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4F6FC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6974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78608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GPU implementation made large-scale CNN training practical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5387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419856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 became standard tools across deep learning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3799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61104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reusable architecture — sparked the modern CNN era (VGG, </a:t>
            </a:r>
            <a:r>
              <a:rPr lang="en-US" sz="140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etc.)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ImageNet Classification with Deep CNNs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56232"/>
            <a:ext cx="420624" cy="42062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compute- and memory-heavy for its time — needed 2 GPUs and days of training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4F6FC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697480"/>
            <a:ext cx="420624" cy="42062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78608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~60M parameters risk overfitting without heavy augmentation/dropout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538728"/>
            <a:ext cx="420624" cy="42062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419856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224×224 input size limits flexibility to image scale/aspect ratio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379976"/>
            <a:ext cx="420624" cy="420624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61104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depth/width chosen largely by trial and error, not principled design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ImageNet Classification with Deep CNNs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938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5146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Search &amp; Tagging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retrieval and auto-tagging at web scale.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544568" y="1938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25146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44568" y="297180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support — tumor/lesion detection from scans.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9328" y="1938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9328" y="25146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39328" y="297180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&amp; pedestrian detection pipelines build on CNN backbones.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4133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" y="47091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&amp; Object Recognition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516636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retail, and social-media recognition systems.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44568" y="4133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44568" y="47091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Backbone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44568" y="516636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conv layers reused for detection, segmentation.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ImageNet Classification with Deep CNNs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landmark result — proved that scale (data + compute + depth) beats hand-engineering, and set the template modern computer vision still follows.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606040"/>
            <a:ext cx="3611880" cy="502920"/>
          </a:xfrm>
          <a:prstGeom prst="rect">
            <a:avLst/>
          </a:prstGeom>
          <a:solidFill>
            <a:srgbClr val="2B8A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holds 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ideas (ReLU, dropout, augmentation) remain standard practice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validated the 'go deep + go big' philosophy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606040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2606040"/>
            <a:ext cx="3611880" cy="502920"/>
          </a:xfrm>
          <a:prstGeom prst="rect">
            <a:avLst/>
          </a:prstGeom>
          <a:solidFill>
            <a:srgbClr val="5A6178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606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2918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inefficient vs. later designs (VGG, ResNet, EfficientNet)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LRN and some engineering choices were largely GPU-memory workarounds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606040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2606040"/>
            <a:ext cx="3611880" cy="5029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606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32918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gain was architecture vs. sheer scale/compute?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of learned features was not deeply analyzed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ImageNet Classification with Deep CNNs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920</Words>
  <Application>Microsoft Office PowerPoint</Application>
  <PresentationFormat>Widescreen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2</cp:revision>
  <dcterms:created xsi:type="dcterms:W3CDTF">2026-08-04T02:43:47Z</dcterms:created>
  <dcterms:modified xsi:type="dcterms:W3CDTF">2026-08-04T02:49:07Z</dcterms:modified>
</cp:coreProperties>
</file>