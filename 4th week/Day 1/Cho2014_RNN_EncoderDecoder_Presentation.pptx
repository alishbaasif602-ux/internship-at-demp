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362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A9F4-892D-858E-C155-4619FB33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D2782-044D-4777-C281-1F3B11A49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21DA8-C607-62A8-4B37-4B95858B4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1974A-D5FE-1D39-2356-4FBD2CA8F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68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4572000"/>
            <a:ext cx="1463040" cy="1463040"/>
          </a:xfrm>
          <a:prstGeom prst="ellipse">
            <a:avLst/>
          </a:prstGeom>
          <a:solidFill>
            <a:srgbClr val="F59E0B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0B"/>
                </a:solidFill>
              </a:rPr>
              <a:t>PAPER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Learning Phrase Representations using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RNN Encoder–Decoder for Statistical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Machine Translation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</a:rPr>
              <a:t>Cho, van Merriënboer, Gulcehre, Bahdanau, Bougares, Schwenk &amp; Bengio — EMNLP 2014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01 ·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</a:rPr>
              <a:t>Fixed statistical framework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Phrase-based SMT scores phrase pairs using frequency counts from a fixed phrase table — brittle for rare or unseen phrases.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28800"/>
            <a:ext cx="36118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48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</a:rPr>
              <a:t>No true variable-length modeling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Existing neural approaches in SMT mostly needed fixed-size inputs/outputs, unsuited to sentences of varying length.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36118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148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</a:rPr>
              <a:t>Need: a learned scoring model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595360" y="30632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A model that can take a variable-length source phrase and produce a variable-length target phrase representation.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02 · MOTIVATION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Phrase-based SMT limits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Traditional systems can't capture deep semantic/syntactic similarity between phrase pairs.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RNNs for sequences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834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Recurrent networks can compress a variable-length sequence into a fixed-length vector, and expand it back out.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 scoring signal, not full translation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8862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Rather than replace SMT, use RNNs to add a smarter feature that re-scores existing phrase pairs.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03 · 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Encoder–Decoder Framework</a:t>
            </a:r>
            <a:endParaRPr lang="en-US" sz="2500" dirty="0"/>
          </a:p>
        </p:txBody>
      </p:sp>
      <p:pic>
        <p:nvPicPr>
          <p:cNvPr id="5" name="Image 0" descr="diagrams/encoder_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1247120" cy="4325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46E5"/>
                </a:solidFill>
              </a:rPr>
              <a:t>Encoder</a:t>
            </a:r>
            <a:r>
              <a:rPr lang="en-US" sz="1250" dirty="0">
                <a:solidFill>
                  <a:srgbClr val="64748B"/>
                </a:solidFill>
              </a:rPr>
              <a:t>: reads the source sequence, compresses it into a fixed-length context vector c.   </a:t>
            </a:r>
            <a:r>
              <a:rPr lang="en-US" sz="1250" b="1" dirty="0">
                <a:solidFill>
                  <a:srgbClr val="0D9488"/>
                </a:solidFill>
              </a:rPr>
              <a:t>Decoder</a:t>
            </a:r>
            <a:r>
              <a:rPr lang="en-US" sz="1250" dirty="0">
                <a:solidFill>
                  <a:srgbClr val="64748B"/>
                </a:solidFill>
              </a:rPr>
              <a:t>: generates the target sequence conditioned on c and its own previous outputs.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04 ·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Architecture — the GRU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To make the encoder/decoder trainable and effective, the authors proposed a new hidden unit — the Gated Recurrent Unit (GRU) — with two gates that control memory flow, avoiding the vanishing-gradient issues of a plain RNN.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Update gate z:  </a:t>
            </a:r>
            <a:r>
              <a:rPr lang="en-US" sz="1250" dirty="0">
                <a:solidFill>
                  <a:srgbClr val="1E293B"/>
                </a:solidFill>
              </a:rPr>
              <a:t>how much old vs. new state to keep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1788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Reset gate r:  </a:t>
            </a:r>
            <a:r>
              <a:rPr lang="en-US" sz="1250" dirty="0">
                <a:solidFill>
                  <a:srgbClr val="1E293B"/>
                </a:solidFill>
              </a:rPr>
              <a:t>how much past to ignore for the candidate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7457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No separate cell state:  </a:t>
            </a:r>
            <a:r>
              <a:rPr lang="en-US" sz="1250" dirty="0">
                <a:solidFill>
                  <a:srgbClr val="1E293B"/>
                </a:solidFill>
              </a:rPr>
              <a:t>unlike LSTM — simpler, fewer parameters</a:t>
            </a:r>
            <a:endParaRPr lang="en-US" sz="1250" dirty="0"/>
          </a:p>
        </p:txBody>
      </p:sp>
      <p:pic>
        <p:nvPicPr>
          <p:cNvPr id="10" name="Image 0" descr="diagrams/gru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83080"/>
            <a:ext cx="6492240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05 · CONTRIBUTIONS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Introduced the GRU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A simpler, effective gated recurrent unit — now a standard building block alongside LSTM.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82880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Novel RNN Encoder–Decoder model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First to jointly train an encoder and decoder RNN to maximize conditional probability of target given source.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69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Phrase pair scoring as a feature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Used the trained model's conditional probabilities as an extra feature in a phrase-based SMT log-linear model.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8862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886200"/>
            <a:ext cx="64008" cy="1828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069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</a:rPr>
              <a:t>Meaningful learned representations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29400" y="45720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Showed the model learns semantically &amp; syntactically coherent phrase embeddings (visualized via clustering).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06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English → French, WMT'14 — BLEU scores (test set)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949440" cy="23774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Dev BLEU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 BLEU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Baseline phrase-based SMT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30.64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33.30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+ RNN Encoder–Decoder score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31.20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33.87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+ CSLM + RNN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31.48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34.64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+ CSLM + RNN + word penalty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31.50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34.54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2103120"/>
            <a:ext cx="3749040" cy="3794760"/>
          </a:xfrm>
          <a:prstGeom prst="roundRect">
            <a:avLst>
              <a:gd name="adj" fmla="val 243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81381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</a:rPr>
              <a:t>Takeaways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38160" y="27889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RNN score alone improves test BLEU from 33.30 → 33.87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Gains are complementary to a Continuous Space Language Model (CSLM)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Qualitative analysis: t-SNE shows phrase embeddings cluster by meaning &amp; syntax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07 · CRITIQUE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Limitations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9488"/>
                </a:solidFill>
              </a:rPr>
              <a:t>Strengths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</a:rPr>
              <a:t>Introduced GRU — simpler &amp; cheaper than LSTM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</a:rPr>
              <a:t>Handles variable-length input/output naturally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</a:rPr>
              <a:t>Learns meaningful, reusable phrase representations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11D48"/>
                </a:solidFill>
              </a:rPr>
              <a:t>Limitations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E293B"/>
                </a:solidFill>
              </a:rPr>
              <a:t>Fixed-length context vector bottlenecks long sentences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E293B"/>
                </a:solidFill>
              </a:rPr>
              <a:t>Not used for direct end-to-end translation, only re-scoring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E293B"/>
                </a:solidFill>
              </a:rPr>
              <a:t>Evaluated mainly on short phrase pairs, not full documents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82296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F46E5"/>
                </a:solidFill>
              </a:rPr>
              <a:t>08 · APPLICATIONS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69748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Machine translation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Direct ancestor of modern NMT — encoder-decoder is the core of Google Translate-style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92024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Text summarization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03320" y="301752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Same framework compresses long input text into a fixed vector, then decodes a summary.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92024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Speech recognition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301752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Encoder compresses audio features; decoder emits transcribed text sequences.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2688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1920240"/>
            <a:ext cx="269748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Chatbots &amp; dialogue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555480" y="301752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Sequence-to-sequence response generation builds directly on this framework.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F59E0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Personal Insights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D9E6F5"/>
                </a:solidFill>
              </a:rPr>
              <a:t>This paper's real legacy isn't the SMT re-scoring result — it's the GRU and the encoder-decoder pattern itself, which became the backbone of modern seq2seq models.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D9E6F5"/>
                </a:solidFill>
              </a:rPr>
              <a:t>The fixed-length context vector is the paper's clearest weakness — it directly motivated attention mechanisms a year later.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D9E6F5"/>
                </a:solidFill>
              </a:rPr>
              <a:t>A great example of how a modest empirical gain (33.30 → 34.64 BLEU) can still mark a major architectural turning point.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0E172-C9F8-3017-4105-9391C576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1EFB42-B512-C9B3-3933-62594A7B5150}"/>
              </a:ext>
            </a:extLst>
          </p:cNvPr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44CFC9-7BFB-A6BD-109C-A523C36F0742}"/>
              </a:ext>
            </a:extLst>
          </p:cNvPr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F59E0B">
              <a:alpha val="45000"/>
            </a:srgb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691E32-E0C3-50BF-A0E1-F85BE874D58A}"/>
              </a:ext>
            </a:extLst>
          </p:cNvPr>
          <p:cNvSpPr/>
          <p:nvPr/>
        </p:nvSpPr>
        <p:spPr>
          <a:xfrm>
            <a:off x="3382253" y="16002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  <a:spcAft>
                <a:spcPts val="1600"/>
              </a:spcAft>
              <a:buSzPct val="100000"/>
            </a:pPr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FF90A6-E8F8-DAA0-BA6B-A909F53B6737}"/>
              </a:ext>
            </a:extLst>
          </p:cNvPr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10 / 10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15798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708</Words>
  <Application>Microsoft Office PowerPoint</Application>
  <PresentationFormat>Widescreen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Algerian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2026-07-28T20:58:50Z</dcterms:created>
  <dcterms:modified xsi:type="dcterms:W3CDTF">2026-07-28T21:04:57Z</dcterms:modified>
</cp:coreProperties>
</file>