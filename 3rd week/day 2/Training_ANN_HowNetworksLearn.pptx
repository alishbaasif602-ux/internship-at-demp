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Loss vs. Error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4</c:v>
                </c:pt>
                <c:pt idx="6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24-4CF4-AEDE-086A2D5817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24-4CF4-AEDE-086A2D581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Cost Surface J(</a:t>
            </a:r>
            <a:r>
              <a:rPr lang="el-GR" sz="1200" b="0" i="0" u="none" strike="noStrike">
                <a:solidFill>
                  <a:srgbClr val="000000"/>
                </a:solidFill>
                <a:latin typeface="Arial"/>
              </a:rPr>
              <a:t>θ)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</c:v>
                </c:pt>
                <c:pt idx="1">
                  <c:v>16</c:v>
                </c:pt>
                <c:pt idx="2">
                  <c:v>9</c:v>
                </c:pt>
                <c:pt idx="3">
                  <c:v>4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4</c:v>
                </c:pt>
                <c:pt idx="8">
                  <c:v>9</c:v>
                </c:pt>
                <c:pt idx="9">
                  <c:v>16</c:v>
                </c:pt>
                <c:pt idx="10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4D-45B3-B1A1-1E54656F9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l-GR" b="0" i="0" u="none" strike="noStrike">
                    <a:solidFill>
                      <a:srgbClr val="000000"/>
                    </a:solidFill>
                    <a:latin typeface="Arial"/>
                  </a:rPr>
                  <a:t>θ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Cost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Convergence Path — Illustrative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Batch GD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7</c:v>
                </c:pt>
                <c:pt idx="2">
                  <c:v>5</c:v>
                </c:pt>
                <c:pt idx="3">
                  <c:v>3.5</c:v>
                </c:pt>
                <c:pt idx="4">
                  <c:v>2.5</c:v>
                </c:pt>
                <c:pt idx="5">
                  <c:v>1.8</c:v>
                </c:pt>
                <c:pt idx="6">
                  <c:v>1.3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85-4F2D-A28E-9D10C997BA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SGD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6</c:v>
                </c:pt>
                <c:pt idx="2">
                  <c:v>7</c:v>
                </c:pt>
                <c:pt idx="3">
                  <c:v>4</c:v>
                </c:pt>
                <c:pt idx="4">
                  <c:v>5</c:v>
                </c:pt>
                <c:pt idx="5">
                  <c:v>2.5</c:v>
                </c:pt>
                <c:pt idx="6">
                  <c:v>3</c:v>
                </c:pt>
                <c:pt idx="7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85-4F2D-A28E-9D10C997BA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Mini-Batch</c:v>
                </c:pt>
              </c:strCache>
            </c:strRef>
          </c:tx>
          <c:spPr>
            <a:ln w="31750" cap="flat">
              <a:solidFill>
                <a:srgbClr val="2FBF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BF71"/>
              </a:solidFill>
              <a:ln w="9525" cap="flat">
                <a:solidFill>
                  <a:srgbClr val="2FBF71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</c:v>
                </c:pt>
                <c:pt idx="1">
                  <c:v>6.5</c:v>
                </c:pt>
                <c:pt idx="2">
                  <c:v>4.5</c:v>
                </c:pt>
                <c:pt idx="3">
                  <c:v>3.2</c:v>
                </c:pt>
                <c:pt idx="4">
                  <c:v>2.2000000000000002</c:v>
                </c:pt>
                <c:pt idx="5">
                  <c:v>1.6</c:v>
                </c:pt>
                <c:pt idx="6">
                  <c:v>1.2</c:v>
                </c:pt>
                <c:pt idx="7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85-4F2D-A28E-9D10C997B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Iteration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Loss Curves &amp; Early Stopping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0.55000000000000004</c:v>
                </c:pt>
                <c:pt idx="2">
                  <c:v>0.35</c:v>
                </c:pt>
                <c:pt idx="3">
                  <c:v>0.24</c:v>
                </c:pt>
                <c:pt idx="4">
                  <c:v>0.17</c:v>
                </c:pt>
                <c:pt idx="5">
                  <c:v>0.12</c:v>
                </c:pt>
                <c:pt idx="6">
                  <c:v>0.09</c:v>
                </c:pt>
                <c:pt idx="7">
                  <c:v>7.0000000000000007E-2</c:v>
                </c:pt>
                <c:pt idx="8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4F-4D34-9714-F86625B8E6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1.05</c:v>
                </c:pt>
                <c:pt idx="1">
                  <c:v>0.6</c:v>
                </c:pt>
                <c:pt idx="2">
                  <c:v>0.4</c:v>
                </c:pt>
                <c:pt idx="3">
                  <c:v>0.28999999999999998</c:v>
                </c:pt>
                <c:pt idx="4">
                  <c:v>0.24</c:v>
                </c:pt>
                <c:pt idx="5">
                  <c:v>0.23</c:v>
                </c:pt>
                <c:pt idx="6">
                  <c:v>0.25</c:v>
                </c:pt>
                <c:pt idx="7">
                  <c:v>0.28999999999999998</c:v>
                </c:pt>
                <c:pt idx="8">
                  <c:v>0.34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4F-4D34-9714-F86625B8E6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1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B16C-50AA-A34A-5F8F-9B3F2907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5194E-BD39-A693-ABA8-B26FF570E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E213F-C175-96E1-1239-75F2332D9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D60FE-30FF-A3EB-500B-A89C5E411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08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DAY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Artificial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Neural Networks Learn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 ·  Gradient Descent  ·  Backpropagation  ·  Optimizers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110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neural networks learn from data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8" name="Text 6"/>
          <p:cNvSpPr/>
          <p:nvPr/>
        </p:nvSpPr>
        <p:spPr>
          <a:xfrm>
            <a:off x="6336792" y="19110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0" y="178308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mathematics behind training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71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different loss functions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871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40880" y="274320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gradient descent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8313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17320" y="370332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backpropagation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336792" y="38313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40880" y="370332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optimizers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7914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7320" y="466344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learning curves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2200" y="466344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47914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40880" y="466344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 an ANN with TensorFlow/PyTorch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Architecture — Recap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2148840" y="2514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148840" y="30175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35204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enter the network (e.g. pixels, tabular columns)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94760" y="3246120"/>
            <a:ext cx="548640" cy="274320"/>
          </a:xfrm>
          <a:prstGeom prst="rightArrow">
            <a:avLst/>
          </a:prstGeom>
          <a:solidFill>
            <a:srgbClr val="5B7A88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1945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0" y="2514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30175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0" y="35204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43400" y="4709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apply weights, biases, and activation functions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3246120"/>
            <a:ext cx="548640" cy="274320"/>
          </a:xfrm>
          <a:prstGeom prst="rightArrow">
            <a:avLst/>
          </a:prstGeom>
          <a:solidFill>
            <a:srgbClr val="5B7A88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1945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212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281160" y="2514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30175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35204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09560" y="4709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predictions — a class score or continuous value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Architecture — Recap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2128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parameters that transform inputs at every connection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2004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6301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non-linearity (ReLU, Sigmoid, Tanh, Softmax)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617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50474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input → hidden → output to produce a prediction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NETWORKS 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Process in ANN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9040" y="18288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computes an output (ŷ) via forward propagation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700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267004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prediction to the true label / value (ŷ − y)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11296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3511296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error across all training examples into one number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52544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4352544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weights &amp; biases to reduce the cost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2FBF7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9379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Cycle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5193792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prediction → error → update, epoch after epoch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NETWORKS 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Cycle — Flowchart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1635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5478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ŷ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9504" y="3209544"/>
            <a:ext cx="457200" cy="256032"/>
          </a:xfrm>
          <a:prstGeom prst="rightArrow">
            <a:avLst/>
          </a:prstGeom>
          <a:solidFill>
            <a:srgbClr val="2FBF71"/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2651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81635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46120" y="35478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− 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04104" y="3209544"/>
            <a:ext cx="457200" cy="256032"/>
          </a:xfrm>
          <a:prstGeom prst="rightArrow">
            <a:avLst/>
          </a:prstGeom>
          <a:solidFill>
            <a:srgbClr val="2FBF71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2651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81635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0" y="35478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J(θ)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18704" y="3209544"/>
            <a:ext cx="457200" cy="256032"/>
          </a:xfrm>
          <a:prstGeom prst="rightArrow">
            <a:avLst/>
          </a:prstGeom>
          <a:solidFill>
            <a:srgbClr val="2FBF7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651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81635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5478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← θ − η∇J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83080" y="4343400"/>
            <a:ext cx="7680960" cy="0"/>
          </a:xfrm>
          <a:prstGeom prst="line">
            <a:avLst/>
          </a:prstGeom>
          <a:noFill/>
          <a:ln w="28575">
            <a:solidFill>
              <a:srgbClr val="2FBF7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783080" y="4069080"/>
            <a:ext cx="0" cy="274320"/>
          </a:xfrm>
          <a:prstGeom prst="line">
            <a:avLst/>
          </a:prstGeom>
          <a:noFill/>
          <a:ln w="28575">
            <a:solidFill>
              <a:srgbClr val="2FBF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4069080"/>
            <a:ext cx="0" cy="274320"/>
          </a:xfrm>
          <a:prstGeom prst="line">
            <a:avLst/>
          </a:prstGeom>
          <a:noFill/>
          <a:ln w="28575">
            <a:solidFill>
              <a:srgbClr val="2FBF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4983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B7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batch, every epoch, until the cost stops improving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— Regression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(concept)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mean(|y − ŷ|)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outliers; gradient is 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mean((y − ŷ)²)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Penalizes large errors heavily; smooth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unit as target; interpretable magnitude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near 0, linear beyond 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Balances MSE and MAE; less outlier-sensitive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MAE/Huber when outliers are common; use MSE/RMSE when large errors must be penalized strongly.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5074920"/>
          <a:ext cx="51206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— Classification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AF4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−[y·log(ŷ) + (1−y)·log(1−ŷ)]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output, single probability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116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Multi-class, one-hot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306324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−Σ yᵢ·log(ŷᵢ)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4069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output, one-hot labels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 Comparison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20623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Smooth, penalizes large errors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price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outliers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forecasting w/ noisy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of both worlds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regression, sensor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Well-calibrated probabilities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vs. not-spam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for softmax outputs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classification (one-hot)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Categorical 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one-hot encoding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label vocabularies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— The Core Idea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394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063240" y="4526280"/>
            <a:ext cx="182880" cy="18288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09360" y="196596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20391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Surface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0" y="23500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of the cost function over parameter values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292608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9992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(∇J)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92240" y="33101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steepest ascent — we step opposite to it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388620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3959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(η)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92240" y="42702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size; too high overshoots, too low is slow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309360" y="4892040"/>
            <a:ext cx="5303520" cy="64008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← θ − η·∇J(θ)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Variants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entire training set per update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but slow &amp; memory-heavy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GD (SGD)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one example per update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noisy convergence path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small batch (e.g. 32–256) per update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trade-off — the default in practice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4114800"/>
          <a:ext cx="11064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 — Error Propagation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error is sent backward, layer by layer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∂J/∂w = ∂J/∂ŷ · ∂ŷ/∂z · ∂z/∂w — decomposes complex derivatives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9319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moves opposite to its gradient contribution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Update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9834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Biases are updated the same way, using ∂J/∂b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Illustrating Backprop with a Computational Graph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91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wx+b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σ(z)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3D7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J(a,y)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2788920"/>
            <a:ext cx="914400" cy="228600"/>
          </a:xfrm>
          <a:prstGeom prst="rightArrow">
            <a:avLst/>
          </a:prstGeom>
          <a:solidFill>
            <a:srgbClr val="2FBF7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2788920"/>
            <a:ext cx="822960" cy="228600"/>
          </a:xfrm>
          <a:prstGeom prst="rightArrow">
            <a:avLst/>
          </a:prstGeom>
          <a:solidFill>
            <a:srgbClr val="2FBF71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2788920"/>
            <a:ext cx="822960" cy="228600"/>
          </a:xfrm>
          <a:prstGeom prst="rightArrow">
            <a:avLst/>
          </a:prstGeom>
          <a:solidFill>
            <a:srgbClr val="2FBF71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5661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4023360"/>
            <a:ext cx="822960" cy="228600"/>
          </a:xfrm>
          <a:prstGeom prst="leftArrow">
            <a:avLst/>
          </a:prstGeom>
          <a:solidFill>
            <a:srgbClr val="E4572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4023360"/>
            <a:ext cx="822960" cy="228600"/>
          </a:xfrm>
          <a:prstGeom prst="leftArrow">
            <a:avLst/>
          </a:prstGeom>
          <a:solidFill>
            <a:srgbClr val="E457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4023360"/>
            <a:ext cx="914400" cy="228600"/>
          </a:xfrm>
          <a:prstGeom prst="leftArrow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434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4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backward pass:  ∂J/∂a → ∂J/∂z → ∂J/∂w, ∂J/∂b  (chain rule)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caches its local derivative during the forward pass; backprop multiplies these local derivatives along the path from loss to each weight.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Optimizers — SGD, Momentum, RMSProp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update using only the current gradient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can oscillate on ravines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EA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201168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1168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velocity term that accumulates past gradients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oscillation, speeds convergence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EA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2011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learning rate per-parameter using a moving average of squared gradients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non-stationary objectives well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Optimizers — Adam &amp; Comparison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248182"/>
              </p:ext>
            </p:extLst>
          </p:nvPr>
        </p:nvGraphicFramePr>
        <p:xfrm>
          <a:off x="548640" y="1828800"/>
          <a:ext cx="10209086" cy="2590800"/>
        </p:xfrm>
        <a:graphic>
          <a:graphicData uri="http://schemas.openxmlformats.org/drawingml/2006/table">
            <a:tbl>
              <a:tblPr/>
              <a:tblGrid>
                <a:gridCol w="973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Adapts LR?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(optional)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problems, well-tuned LR schedules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Escaping shallow local minima / ravines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RNNs, non-stationary objectives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choice for most deep learning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= Momentum (1st moment) + RMSProp (2nd moment), with bias correction. AdamW decouples weight decay from the gradient update for better regularization.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Curves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023360" y="2103120"/>
            <a:ext cx="0" cy="2743200"/>
          </a:xfrm>
          <a:prstGeom prst="line">
            <a:avLst/>
          </a:prstGeom>
          <a:noFill/>
          <a:ln w="25400">
            <a:solidFill>
              <a:srgbClr val="2FBF71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160520" y="2103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22677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data the model has seen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31363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held-out data — the real signal for overfitting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Curve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40050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correct-prediction rate over epochs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48737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training when validation loss stops improving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Training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to ~0 across deep layers; early layers stop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grow huge; weights diverge, loss becomes NaN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Initialization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starting weights cause slow or unstable convergence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ReLU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892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output 0 permanently and stop receiving gradient updates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to Common Problems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9260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ReLU-family activations, residual/skip connections, batch normalization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Exploding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clipping, smaller learning rate, careful weight initialization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Initialization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/ Xavier (Glorot) initialization matched to activation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ReLU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 ReLU / ELU, lower learning rate, better initialization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2350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Training ANNs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21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or warm-restart the LR over training for stability + speed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21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Selection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batches generalize better; large batches train faster per step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702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Selection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validation performance, not a fixed number, to decide when to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2702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8463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best-performing weights during training to recover / resume safely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How Neural Networks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learns by cycling through prediction → error → cost → update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8716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quantify error; the right choice depends on the task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4553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(batch / SGD / mini-batch) drives the parameter updates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0390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uses the chain rule to compute every gradient efficiently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171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46227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(SGD → Momentum → RMSProp → Adam/AdamW) speed up convergence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755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1206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 + best practices keep training stable and generalizable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C1E1B-8144-38B0-CFDE-07074AA6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E46B95-F1EA-0DE2-0043-B33EA3A9AA95}"/>
              </a:ext>
            </a:extLst>
          </p:cNvPr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D0356F-6895-9D43-171F-CE241952D409}"/>
              </a:ext>
            </a:extLst>
          </p:cNvPr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BA74C5-8B39-442B-F40F-E7CE03B28796}"/>
              </a:ext>
            </a:extLst>
          </p:cNvPr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22ED8A-1255-BECA-356E-842326F5E116}"/>
              </a:ext>
            </a:extLst>
          </p:cNvPr>
          <p:cNvSpPr/>
          <p:nvPr/>
        </p:nvSpPr>
        <p:spPr>
          <a:xfrm>
            <a:off x="3505200" y="1579652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chemeClr val="bg2"/>
                </a:solidFill>
                <a:latin typeface="Algerian" panose="04020705040A02060702" pitchFamily="82" charset="0"/>
              </a:rPr>
              <a:t>THANK</a:t>
            </a:r>
            <a:r>
              <a:rPr lang="en-US" sz="4400" dirty="0"/>
              <a:t> </a:t>
            </a:r>
            <a:r>
              <a:rPr lang="en-US" sz="4400" dirty="0">
                <a:solidFill>
                  <a:schemeClr val="bg2"/>
                </a:solidFill>
                <a:latin typeface="Algerian" panose="04020705040A02060702" pitchFamily="8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94972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1277</Words>
  <Application>Microsoft Office PowerPoint</Application>
  <PresentationFormat>Widescreen</PresentationFormat>
  <Paragraphs>309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Algerian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3</cp:revision>
  <dcterms:created xsi:type="dcterms:W3CDTF">2026-07-21T18:41:26Z</dcterms:created>
  <dcterms:modified xsi:type="dcterms:W3CDTF">2026-07-22T06:03:49Z</dcterms:modified>
</cp:coreProperties>
</file>