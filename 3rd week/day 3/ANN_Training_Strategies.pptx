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</c:v>
                </c:pt>
                <c:pt idx="1">
                  <c:v>1.6</c:v>
                </c:pt>
                <c:pt idx="2">
                  <c:v>1.5</c:v>
                </c:pt>
                <c:pt idx="3">
                  <c:v>1.45</c:v>
                </c:pt>
                <c:pt idx="4">
                  <c:v>1.42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D0-4AAB-86DE-D9821E5FCB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1.7</c:v>
                </c:pt>
                <c:pt idx="2">
                  <c:v>1.6</c:v>
                </c:pt>
                <c:pt idx="3">
                  <c:v>1.55</c:v>
                </c:pt>
                <c:pt idx="4">
                  <c:v>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D0-4AAB-86DE-D9821E5FCB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</c:v>
                </c:pt>
                <c:pt idx="1">
                  <c:v>1.1000000000000001</c:v>
                </c:pt>
                <c:pt idx="2">
                  <c:v>0.55000000000000004</c:v>
                </c:pt>
                <c:pt idx="3">
                  <c:v>0.25</c:v>
                </c:pt>
                <c:pt idx="4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03-4CAC-9A54-BBB984B6D9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1.95</c:v>
                </c:pt>
                <c:pt idx="1">
                  <c:v>1.1499999999999999</c:v>
                </c:pt>
                <c:pt idx="2">
                  <c:v>0.9</c:v>
                </c:pt>
                <c:pt idx="3">
                  <c:v>1.1000000000000001</c:v>
                </c:pt>
                <c:pt idx="4">
                  <c:v>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03-4CAC-9A54-BBB984B6D9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0.01</c:v>
                </c:pt>
                <c:pt idx="4">
                  <c:v>0.01</c:v>
                </c:pt>
                <c:pt idx="5">
                  <c:v>0.01</c:v>
                </c:pt>
                <c:pt idx="6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1F-4F0D-906F-6EBE2D9192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000000"/>
                    </a:solidFill>
                    <a:latin typeface="Arial"/>
                  </a:rPr>
                  <a:t>LR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</c:v>
                </c:pt>
                <c:pt idx="1">
                  <c:v>0.01</c:v>
                </c:pt>
                <c:pt idx="2">
                  <c:v>5.0000000000000001E-3</c:v>
                </c:pt>
                <c:pt idx="3">
                  <c:v>5.0000000000000001E-3</c:v>
                </c:pt>
                <c:pt idx="4">
                  <c:v>2.5000000000000001E-3</c:v>
                </c:pt>
                <c:pt idx="5">
                  <c:v>2.5000000000000001E-3</c:v>
                </c:pt>
                <c:pt idx="6">
                  <c:v>1.25E-3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2D-4787-9EE4-F727EEC565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000000"/>
                    </a:solidFill>
                    <a:latin typeface="Arial"/>
                  </a:rPr>
                  <a:t>LR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</c:v>
                </c:pt>
                <c:pt idx="1">
                  <c:v>8.2000000000000007E-3</c:v>
                </c:pt>
                <c:pt idx="2">
                  <c:v>6.7000000000000002E-3</c:v>
                </c:pt>
                <c:pt idx="3">
                  <c:v>5.4999999999999997E-3</c:v>
                </c:pt>
                <c:pt idx="4">
                  <c:v>4.4999999999999997E-3</c:v>
                </c:pt>
                <c:pt idx="5">
                  <c:v>3.7000000000000002E-3</c:v>
                </c:pt>
                <c:pt idx="6">
                  <c:v>3.0000000000000001E-3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41-43C7-B03C-C8EBAA44E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000000"/>
                    </a:solidFill>
                    <a:latin typeface="Arial"/>
                  </a:rPr>
                  <a:t>LR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5.0000000000000001E-3</c:v>
                </c:pt>
                <c:pt idx="4">
                  <c:v>5.0000000000000001E-3</c:v>
                </c:pt>
                <c:pt idx="5">
                  <c:v>2.5000000000000001E-3</c:v>
                </c:pt>
                <c:pt idx="6">
                  <c:v>2.5000000000000001E-3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75-466D-B09C-1354F5637C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LR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</c:v>
                </c:pt>
                <c:pt idx="1">
                  <c:v>9.2999999999999992E-3</c:v>
                </c:pt>
                <c:pt idx="2">
                  <c:v>7.4999999999999997E-3</c:v>
                </c:pt>
                <c:pt idx="3">
                  <c:v>5.0000000000000001E-3</c:v>
                </c:pt>
                <c:pt idx="4">
                  <c:v>2.5000000000000001E-3</c:v>
                </c:pt>
                <c:pt idx="5">
                  <c:v>6.9999999999999999E-4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3B-40BB-BACB-AB4DD73EF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LR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85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image" Target="../media/image16.png"/><Relationship Id="rId4" Type="http://schemas.openxmlformats.org/officeDocument/2006/relationships/chart" Target="../charts/char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73152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DAY 3  |  INTERNSHIP TRAINING PROGRAM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Regularization, Hyperparameter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&amp; Training Strategies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to improve the performance, stability, and generalization of Artificial Neural Networks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5806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/home/claude/ann_deck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91616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148840" y="5806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/home/claude/ann_deck/icons/drop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591616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566160" y="5806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ann_deck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59161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4612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983480" y="5806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ann_deck/icons/sett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591616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6344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591056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099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" y="15636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61288" y="178308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Training Neural Networks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295144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" y="2377440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ann_deck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4963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61288" y="23500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61288" y="2569464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Techniques (L1, L2, Elastic Net)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" y="3081528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" y="3163824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ann_deck/icons/drop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28269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61288" y="3136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61288" y="3355848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2920" y="3867912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" y="3950208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ann_deck/icons/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06908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61288" y="39227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61288" y="4142232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02920" y="4654296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0936" y="473659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ann_deck/icons/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8554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61288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61288" y="4928616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Initialization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309360" y="150876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37376" y="1591056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ann_deck/icons/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1709928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67728" y="15636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967728" y="178308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Scheduling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309360" y="2295144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37376" y="2377440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ann_deck/icons/sa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2496312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67728" y="23500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967728" y="2569464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&amp; Model Checkpointing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6309360" y="3081528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437376" y="316382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/home/claude/ann_deck/icons/settin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3282696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67728" y="3136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6967728" y="3355848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6309360" y="3867912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437376" y="3950208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6" name="Image 8" descr="/home/claude/ann_deck/icons/awar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6248" y="4069080"/>
            <a:ext cx="256032" cy="25603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967728" y="39227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6967728" y="4142232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in Training Neural Networks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trend-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too simple to capture patterns — high error on both training and validation data.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7830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ann_deck/icons/trend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92024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830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4231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training data — low training error but poor generalization to new data.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794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ann_deck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062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690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Bias vs High Variance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7240" y="47091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= error from wrong assumptions; Variance = error from sensitivity to training data.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069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ann_deck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2062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690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Instability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47091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Exploding/vanishing gradients, erratic loss curves, and sensitivity to initialization or learning rate.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 vs. Overfitting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3716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2940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31520" y="1965960"/>
          <a:ext cx="48463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4340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training and validation loss stay high and plateau — the model is too simple to learn the pattern.</a:t>
            </a:r>
            <a:endParaRPr lang="en-US" sz="11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583680" y="1965960"/>
          <a:ext cx="48463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6629400" y="434340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keeps falling while validation loss rises — the model memorizes noise instead of generalizing.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Bias vs. High Variance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9F3F7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Bias · Low Variance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fit — accurate and consistent predictions.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ann_deck/icons/trend-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83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Bias · Low Variance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7960" y="25603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— consistently wrong, model too simple.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794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ann_deck/icons/trend-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062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69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Bias · High Variance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77240" y="48463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— accurate on average, but erratic across datasets.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069080"/>
            <a:ext cx="548640" cy="548640"/>
          </a:xfrm>
          <a:prstGeom prst="ellipse">
            <a:avLst/>
          </a:prstGeom>
          <a:solidFill>
            <a:srgbClr val="17203A"/>
          </a:solidFill>
          <a:ln/>
        </p:spPr>
      </p:sp>
      <p:pic>
        <p:nvPicPr>
          <p:cNvPr id="21" name="Image 3" descr="/home/claude/ann_deck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2062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69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Bias · High Variance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7960" y="48463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— inaccurate and inconsistent.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Regularization Techniques at a Glance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 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Principle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(Lasso)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Σ|w|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Shrinks less important weights to exactly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selection, sparse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(Ridge)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Σw²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Shrinks all weights smoothly toward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General-purpose, correlated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αΣ|w| + (1-α)Σw²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L1 sparsity with L2 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High-dimensional, correlated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λ·w (per update)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shrinks weights during optimizer 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networks, used with SGD/Adam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492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9F3F7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techniques combat overfitting by discouraging large weights — the difference lies in how the penalty is shaped and applied.</a:t>
            </a:r>
            <a:endParaRPr lang="en-US" sz="1250" dirty="0"/>
          </a:p>
        </p:txBody>
      </p:sp>
      <p:sp>
        <p:nvSpPr>
          <p:cNvPr id="4" name="Text 4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vs. L2 Regularization — Deep 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556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Regularization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sum of absolute weight values to the loss function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5478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822192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sparse models; performs implicit feature selection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458114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4855464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data, when many features are irrelevant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146304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37960" y="17373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ann_deck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87452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17556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Regularization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537960" y="25146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37960" y="27889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sum of squared weight values to the loss function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37960" y="35478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37960" y="3822192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stable shrinkage; keeps all features, handles correlation well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537960" y="458114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537960" y="4855464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general-purpose deep learning tasks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 — Why &amp;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drop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Dropout?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can become overly co-dependent, each relying on specific other neurons to correct its errors — a problem known as 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co-adaptation</a:t>
            </a: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network fragile and prone to overfitting the training set, since neurons stop learning independently useful features.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508760"/>
            <a:ext cx="562356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ann_deck/icons/tog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92024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013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Mechanism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309360" y="260604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0"/>
          <p:cNvSpPr/>
          <p:nvPr/>
        </p:nvSpPr>
        <p:spPr>
          <a:xfrm>
            <a:off x="6309360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766560" y="25603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each neuron is randomly "dropped" (set to 0) with probability p on every forward pass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09360" y="336499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3"/>
          <p:cNvSpPr/>
          <p:nvPr/>
        </p:nvSpPr>
        <p:spPr>
          <a:xfrm>
            <a:off x="6309360" y="33649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766560" y="3319272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is forced to learn redundant, distributed representations instead of relying on specific neurons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09360" y="4123944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6"/>
          <p:cNvSpPr/>
          <p:nvPr/>
        </p:nvSpPr>
        <p:spPr>
          <a:xfrm>
            <a:off x="6309360" y="4123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766560" y="4078224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trains an ensemble of thinned sub-networks that are averaged at inference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309360" y="4882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 — Choosing Rates, Pros &amp; Cons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099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Dropout Rate Ranges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2221992"/>
            <a:ext cx="2834640" cy="164592"/>
          </a:xfrm>
          <a:prstGeom prst="roundRect">
            <a:avLst>
              <a:gd name="adj" fmla="val 16667"/>
            </a:avLst>
          </a:prstGeom>
          <a:solidFill>
            <a:srgbClr val="E2E8ED"/>
          </a:solidFill>
          <a:ln/>
        </p:spPr>
      </p:sp>
      <p:sp>
        <p:nvSpPr>
          <p:cNvPr id="8" name="Shape 6"/>
          <p:cNvSpPr/>
          <p:nvPr/>
        </p:nvSpPr>
        <p:spPr>
          <a:xfrm>
            <a:off x="2706624" y="2221992"/>
            <a:ext cx="283464" cy="16459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1305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0.1–0.2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5968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651760"/>
            <a:ext cx="2834640" cy="164592"/>
          </a:xfrm>
          <a:prstGeom prst="roundRect">
            <a:avLst>
              <a:gd name="adj" fmla="val 16667"/>
            </a:avLst>
          </a:prstGeom>
          <a:solidFill>
            <a:srgbClr val="E2E8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273552" y="2651760"/>
            <a:ext cx="566928" cy="16459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0.3–0.5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Layers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3081528"/>
            <a:ext cx="2834640" cy="164592"/>
          </a:xfrm>
          <a:prstGeom prst="roundRect">
            <a:avLst>
              <a:gd name="adj" fmla="val 16667"/>
            </a:avLst>
          </a:prstGeom>
          <a:solidFill>
            <a:srgbClr val="E2E8ED"/>
          </a:solidFill>
          <a:ln/>
        </p:spPr>
      </p:sp>
      <p:sp>
        <p:nvSpPr>
          <p:cNvPr id="16" name="Shape 14"/>
          <p:cNvSpPr/>
          <p:nvPr/>
        </p:nvSpPr>
        <p:spPr>
          <a:xfrm>
            <a:off x="2990088" y="3081528"/>
            <a:ext cx="283464" cy="16459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990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0.2–0.3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50876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E9F3F7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7099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0" descr="/home/claude/ann_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819656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58000" y="175564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309360" y="225856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Reduces overfitting significantly
•  Approximates ensemble learning at low cost
•  Simple to implement, works across architectures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035040" y="374904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63640" y="39502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1" descr="/home/claude/ann_deck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4059936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858000" y="399592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309360" y="4498848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Increases training time to convergence
•  Less effective on small networks
•  Requires careful tuning per layer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Normalization — The Problem &amp; The Fix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Covariate Shift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weights update during training, the distribution of each layer's inputs keeps shifting. Later layers must constantly re-adapt to these shifting distributions, which slows down and destabilizes training.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4160520"/>
            <a:ext cx="4663440" cy="1188720"/>
          </a:xfrm>
          <a:prstGeom prst="roundRect">
            <a:avLst>
              <a:gd name="adj" fmla="val 4615"/>
            </a:avLst>
          </a:prstGeom>
          <a:solidFill>
            <a:srgbClr val="E9F3F7"/>
          </a:solidFill>
          <a:ln/>
        </p:spPr>
      </p:sp>
      <p:sp>
        <p:nvSpPr>
          <p:cNvPr id="11" name="Shape 8"/>
          <p:cNvSpPr/>
          <p:nvPr/>
        </p:nvSpPr>
        <p:spPr>
          <a:xfrm>
            <a:off x="6114459" y="1545336"/>
            <a:ext cx="562356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ann_deck/icons/sl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92024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18013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Mechanism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309360" y="26060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2"/>
          <p:cNvSpPr/>
          <p:nvPr/>
        </p:nvSpPr>
        <p:spPr>
          <a:xfrm>
            <a:off x="6309360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766560" y="25603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mean and variance of activations across the mini-batch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309360" y="336499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309360" y="33649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766560" y="3319272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Normalize: subtract the mean and divide by the standard deviation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309360" y="412394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8"/>
          <p:cNvSpPr/>
          <p:nvPr/>
        </p:nvSpPr>
        <p:spPr>
          <a:xfrm>
            <a:off x="6309360" y="4123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766560" y="4078224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shift the result using learnable parameters γ (gamma) and β (beta)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309360" y="4882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Normalization — Benefits &amp; Placement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756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98424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convergence — allows higher learning rates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807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ann_deck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91693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4712" y="2825496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sensitivity to weight initialization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36484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/home/claude/ann_deck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75818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24712" y="3666744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mild regularization effect, reducing overfitting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903720" y="150876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7178040" y="1737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Placement in a Layer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360920" y="237744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0" name="Text 14"/>
          <p:cNvSpPr/>
          <p:nvPr/>
        </p:nvSpPr>
        <p:spPr>
          <a:xfrm>
            <a:off x="7360920" y="23774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Conv Layer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9281160" y="2971800"/>
            <a:ext cx="0" cy="256032"/>
          </a:xfrm>
          <a:prstGeom prst="line">
            <a:avLst/>
          </a:prstGeom>
          <a:noFill/>
          <a:ln w="19050">
            <a:solidFill>
              <a:srgbClr val="5C7080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7360920" y="3227832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F2A541"/>
          </a:solidFill>
          <a:ln/>
        </p:spPr>
      </p:sp>
      <p:sp>
        <p:nvSpPr>
          <p:cNvPr id="23" name="Text 17"/>
          <p:cNvSpPr/>
          <p:nvPr/>
        </p:nvSpPr>
        <p:spPr>
          <a:xfrm>
            <a:off x="7360920" y="32278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281160" y="3822192"/>
            <a:ext cx="0" cy="256032"/>
          </a:xfrm>
          <a:prstGeom prst="line">
            <a:avLst/>
          </a:prstGeom>
          <a:noFill/>
          <a:ln w="19050">
            <a:solidFill>
              <a:srgbClr val="5C7080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7360920" y="4078224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26" name="Text 20"/>
          <p:cNvSpPr/>
          <p:nvPr/>
        </p:nvSpPr>
        <p:spPr>
          <a:xfrm>
            <a:off x="7360920" y="40782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(ReLU, etc.)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178040" y="4974336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before the activation function, after the linear transformation — though some architectures place it after activation.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Initialization Strategies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2834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Paired With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random values (e.g. N(0, 0.01))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networks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Prone to vanishing/exploding gradients in deep nets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Xavier / Glorot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scaled by fan-in + fan-out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Tanh, Sigmoid activations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signal variance stable across layers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Initialization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scaled by fan-in, factor of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and its variants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dead neurons; faster, stabler convergence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Rate Scheduling — Core Strategies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 Learning Rate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2240280"/>
          <a:ext cx="33375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1605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LR throughout training — simple, but risks overshooting minima or converging too slowly.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5087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26280" y="1691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Decay</a:t>
            </a:r>
            <a:endParaRPr lang="en-US" sz="13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434840" y="2240280"/>
          <a:ext cx="33375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4526280" y="41605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drops by a fixed factor at set intervals — gives coarse control over the training phases.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092440" y="15087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321040" y="1691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Decay</a:t>
            </a:r>
            <a:endParaRPr lang="en-US" sz="1350" dirty="0"/>
          </a:p>
        </p:txBody>
      </p:sp>
      <p:graphicFrame>
        <p:nvGraphicFramePr>
          <p:cNvPr id="14" name="Chart 2"/>
          <p:cNvGraphicFramePr/>
          <p:nvPr/>
        </p:nvGraphicFramePr>
        <p:xfrm>
          <a:off x="8229600" y="2240280"/>
          <a:ext cx="33375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 10"/>
          <p:cNvSpPr/>
          <p:nvPr/>
        </p:nvSpPr>
        <p:spPr>
          <a:xfrm>
            <a:off x="8321040" y="41605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decays continuously by a fixed rate each epoch — smooth, gradual slowdown.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Rate Scheduling — Adaptive Approaches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trend-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013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on Plateau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77240" y="2468880"/>
          <a:ext cx="48920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777240" y="429768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 metric (e.g. validation loss) and reduces the LR only when improvement stalls — adapts to actual training dynamics rather than a fixed schedule.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150876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92240" y="1783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ann_deck/icons/rep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9202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8013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Annealing</a:t>
            </a:r>
            <a:endParaRPr lang="en-US" sz="16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6492240" y="2468880"/>
          <a:ext cx="48920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 9"/>
          <p:cNvSpPr/>
          <p:nvPr/>
        </p:nvSpPr>
        <p:spPr>
          <a:xfrm>
            <a:off x="6492240" y="429768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follows a cosine curve, decaying smoothly from an initial value to near zero (optionally with warm restarts) — popular for training stability in modern deep nets.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Stopping &amp; Model Checkpointing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8196" y="18013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56" y="19385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Model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training and track validation metric each epoch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2583180"/>
            <a:ext cx="137160" cy="0"/>
          </a:xfrm>
          <a:prstGeom prst="line">
            <a:avLst/>
          </a:prstGeom>
          <a:noFill/>
          <a:ln w="19050">
            <a:solidFill>
              <a:srgbClr val="5C708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37560" y="1600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2836" y="18013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ann_deck/icons/bar-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96" y="19385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514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Val Loss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28346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epoch's metric to the best seen so far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2583180"/>
            <a:ext cx="137160" cy="0"/>
          </a:xfrm>
          <a:prstGeom prst="line">
            <a:avLst/>
          </a:prstGeom>
          <a:noFill/>
          <a:ln w="19050">
            <a:solidFill>
              <a:srgbClr val="5C708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172200" y="1600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37476" y="18013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ann_deck/icons/s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636" y="193852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514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Best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09360" y="28346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 weights whenever validation performance improves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869680" y="2583180"/>
            <a:ext cx="137160" cy="0"/>
          </a:xfrm>
          <a:prstGeom prst="line">
            <a:avLst/>
          </a:prstGeom>
          <a:noFill/>
          <a:ln w="19050">
            <a:solidFill>
              <a:srgbClr val="5C708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006840" y="1600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72116" y="18013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/home/claude/ann_deck/icons/s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9276" y="193852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514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on Patience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44000" y="28346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training if no improvement after N epochs (patience)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02920" y="3886200"/>
            <a:ext cx="111556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7724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Prevents Overfitting: </a:t>
            </a: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training once the model starts memorizing training data rather than generalizing
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Optimization — What to Tune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647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18882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37744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Layers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8952" y="2715768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layers → higher capacity, but harder to train and risk of overfitting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7647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ann_deck/icon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56" y="188823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37744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Neurons per Layer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53712" y="2715768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representational capacity of each layer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2440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8472" y="17647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ann_deck/icons/trend-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916" y="18882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8472" y="237744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Rate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48472" y="2715768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 — too high diverges, too low trains too slowly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749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8952" y="40050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ann_dec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" y="412851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" y="461772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Size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58952" y="4956048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gradient noise, memory use, and generalization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749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0050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ann_deck/icons/repe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156" y="412851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61772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53712" y="4956048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underfits; too many overfits without early stopping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2440" y="3749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48472" y="40050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ann_deck/icons/dropl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1916" y="412851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48472" y="461772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 Rate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48472" y="4956048"/>
            <a:ext cx="30998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regularization strength against underfitting risk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Optimization — Tuning Strategies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5396" y="176479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556" y="19019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Search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Exhaustively tries every combination in a defined parameter grid. Guaranteed coverage, but computationally expensive as dimensions grow.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20156" y="176479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ann_deck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190195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Search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29260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combinations randomly from parameter distributions. Often finds good results faster than grid search in high dimensions.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92440" y="150876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14916" y="1764792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6" name="Image 2" descr="/home/claude/ann_deck/icons/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076" y="190195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5146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Optimization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2926080"/>
            <a:ext cx="3154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probabilistic model of performance to intelligently select the next combination to try — efficient for expensive training runs.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66344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E9F3F7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8646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ann_deck/icons/sett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49880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773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Tools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17320" y="504748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Tuner  ·  Optuna  ·  Ray Tune  ·  scikit-learn GridSearchCV / RandomizedSearchCV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Activations &amp; Optimizers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Functions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48640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choice for hidden layers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 ReLU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Avoiding dead neurons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Zero-centered hidden activations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classification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Optimizers</a:t>
            </a:r>
            <a:endParaRPr lang="en-US" sz="135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34924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needs careful LR tuning + momentum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Accelerates convergence, dampens oscillation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Adapts LR per-parameter, good for RNNs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momentum + adaptive LR; strong 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709160"/>
            <a:ext cx="11155680" cy="1508760"/>
          </a:xfrm>
          <a:prstGeom prst="roundRect">
            <a:avLst>
              <a:gd name="adj" fmla="val 4848"/>
            </a:avLst>
          </a:prstGeom>
          <a:solidFill>
            <a:srgbClr val="E9F3F7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77240" y="4937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/home/claude/ann_deck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50612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417320" y="523036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ReLU activations and the Adam optimizer as strong defaults for most ANN architectures, then experiment with alternatives once a working baseline is established.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Evaluation &amp; Experiment Tracking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79631" y="1542356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bar-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013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2560320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44144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and F1-score for classification tasks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337560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21868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to inspect class-level errors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4114800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99592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for a robust performance estimate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150876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1A253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92240" y="1783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1" descr="/home/claude/ann_deck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2024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8040" y="18013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Tracking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492240" y="25603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244144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hyperparameters, metrics, and artifacts for every run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92240" y="333756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321868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experiments side-by-side to identify what improved results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92240" y="4114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399592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TensorBoard, MLflow, Weights &amp; Biases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029200"/>
            <a:ext cx="3291840" cy="3291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nn_deck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17236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" y="15544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(L1/L2/Elastic Net) and Dropout curb overfitting by constraining model complexity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ann_deck/icons/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084" y="17236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22008" y="15544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stabilizes training and allows faster, more reliable convergence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2920" y="3063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/home/claude/ann_deck/icons/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" y="318668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61288" y="30175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weight initialization (Xavier/He) prevents vanishing/exploding gradients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63640" y="3063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3" descr="/home/claude/ann_deck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7084" y="318668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22008" y="30175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scheduling balances fast learning with stable convergence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02920" y="4526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/home/claude/ann_deck/icons/sa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" y="4649724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61288" y="44805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and checkpointing protect against overfitting and save the best model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263640" y="4526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5" descr="/home/claude/ann_deck/icons/settin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7084" y="4649724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22008" y="44805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hyperparameter tuning turns trial-and-error into a repeatable process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TRAINING STRATEGIES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Day 3 — Regularization, Hyperparameter Optimization &amp; Training Strategies for ANN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1623</Words>
  <Application>Microsoft Office PowerPoint</Application>
  <PresentationFormat>Widescreen</PresentationFormat>
  <Paragraphs>333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2</cp:revision>
  <dcterms:created xsi:type="dcterms:W3CDTF">2026-07-24T06:15:19Z</dcterms:created>
  <dcterms:modified xsi:type="dcterms:W3CDTF">2026-07-24T06:56:04Z</dcterms:modified>
</cp:coreProperties>
</file>