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1931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FA3A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7FD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Artificial Neural Networks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Object-Oriented Walkthrough — Neurons, Layers &amp; Networks as Classes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for Today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D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0" y="16002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Neural Networks?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737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D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06640" y="16002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Biology to Code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2697480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834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D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26974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Perceptron Era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0" y="2697480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834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D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406640" y="26974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Network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3794760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9319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D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828800" y="37947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Equations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0" y="3794760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9319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D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406640" y="37947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Functions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22960" y="4892040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029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D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828800" y="4892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Propagation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00800" y="4892040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5029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D2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406640" y="4892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Results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INTRODUCTION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Neural Networks?</a:t>
            </a:r>
            <a:endParaRPr lang="en-US" sz="2700" dirty="0"/>
          </a:p>
        </p:txBody>
      </p:sp>
      <p:pic>
        <p:nvPicPr>
          <p:cNvPr id="5" name="Image 0" descr="/home/claude/Week3_Day1_ANN_v2/figures/v2_01_ai_ml_d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12064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9164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45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software needs hand-written rules for every case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45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learns the rule itself from labeled examples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45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manual feature design — the network discovers useful patterns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45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architecture family adapts to images, text, audio &amp; tables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BIOLOGY → CODE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Biology to Code</a:t>
            </a:r>
            <a:endParaRPr lang="en-US" sz="2700" dirty="0"/>
          </a:p>
        </p:txBody>
      </p:sp>
      <p:pic>
        <p:nvPicPr>
          <p:cNvPr id="5" name="Image 0" descr="/home/claude/Week3_Day1_ANN_v2/figures/v2_02_biological_neur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11064240" cy="260604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4206240"/>
          <a:ext cx="9235440" cy="1920240"/>
        </p:xfrm>
        <a:graphic>
          <a:graphicData uri="http://schemas.openxmlformats.org/drawingml/2006/table">
            <a:tbl>
              <a:tblPr/>
              <a:tblGrid>
                <a:gridCol w="4617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Biology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 Equivalent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Dendrites gather input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Inputs × weights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Soma sums the charge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Weighted sum z = Σwx + 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Fires past a threshold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Activation function f(z)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Axon carries the signal 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passed to next layer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THE PERCEPTRON ERA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Rosenblatt's Perceptron (1958)</a:t>
            </a:r>
            <a:endParaRPr lang="en-US" sz="2700" dirty="0"/>
          </a:p>
        </p:txBody>
      </p:sp>
      <p:pic>
        <p:nvPicPr>
          <p:cNvPr id="5" name="Image 0" descr="/home/claude/Week3_Day1_ANN_v2/figures/v2_04_perceptr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39496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9164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algorithm that learns weights from labeled examples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rule: z = Σ(wᵢxᵢ) + b, then y = 1 if z ≥ 0 else 0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rule: wᵢ ← wᵢ + η·(y_true − y_pred)·xᵢ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40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1969: Minsky &amp; Papert prove it can't learn XOR — a decade-long setback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THE PERCEPTRON ERA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 vs Weakness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011680"/>
          <a:ext cx="9601200" cy="3291840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Weakness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Extremely fast to compute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draws one straight decision line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Easy to interpret weight-by-weight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 0/1 output — no confidence score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Historically the starting point of ANN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Cannot represent XOR-type patterns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ANATOMY OF A NETWORK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Layers of a Dense ANN</a:t>
            </a:r>
            <a:endParaRPr lang="en-US" sz="2700" dirty="0"/>
          </a:p>
        </p:txBody>
      </p:sp>
      <p:pic>
        <p:nvPicPr>
          <p:cNvPr id="5" name="Image 0" descr="/home/claude/Week3_Day1_ANN_v2/figures/v2_05_ann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120640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1828800"/>
            <a:ext cx="5669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45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 — one slot per feature, no computation performed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45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layer(s) — combine the entire previous layer's output; this is where representation learning happens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45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 — shaped for the task (1 neuron for binary, N + softmax for multi-class)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45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code: DenseNetwork([2,3,1]) builds exactly this 2→3→1 shape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CORE EQUATIONS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Inputs to Prediction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280160" y="2103120"/>
            <a:ext cx="4663440" cy="1828800"/>
          </a:xfrm>
          <a:prstGeom prst="roundRect">
            <a:avLst>
              <a:gd name="adj" fmla="val 5000"/>
            </a:avLst>
          </a:prstGeom>
          <a:solidFill>
            <a:srgbClr val="0F6F6F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3317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Linear Combination</a:t>
            </a:r>
            <a:endParaRPr lang="en-US" sz="1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W·A_prev + 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2103120"/>
            <a:ext cx="4663440" cy="1828800"/>
          </a:xfrm>
          <a:prstGeom prst="roundRect">
            <a:avLst>
              <a:gd name="adj" fmla="val 5000"/>
            </a:avLst>
          </a:prstGeom>
          <a:solidFill>
            <a:srgbClr val="E8654A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3317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Activation</a:t>
            </a:r>
            <a:endParaRPr lang="en-US" sz="1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f(Z)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4389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9C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layer applies these two steps in sequence — this is the entire content of DenseLayer.forward()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CORE EQUATIONS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Neuron, Top-Down</a:t>
            </a:r>
            <a:endParaRPr lang="en-US" sz="2700" dirty="0"/>
          </a:p>
        </p:txBody>
      </p:sp>
      <p:pic>
        <p:nvPicPr>
          <p:cNvPr id="5" name="Image 0" descr="/home/claude/Week3_Day1_ANN_v2/figures/v2_03_artificial_neur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34440"/>
            <a:ext cx="3749040" cy="5029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ACTIVATION FUNCTIONS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Activation Gallery</a:t>
            </a:r>
            <a:endParaRPr lang="en-US" sz="2700" dirty="0"/>
          </a:p>
        </p:txBody>
      </p:sp>
      <p:pic>
        <p:nvPicPr>
          <p:cNvPr id="5" name="Image 0" descr="/home/claude/Week3_Day1_ANN_v2/figures/v2_07_activation_fun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10881360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ACTIVATION FUNCTIONS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Which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3657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F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Sigmoid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(0, 1)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output layer (probability)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(−1, 1)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Zero-centered hidden layers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[0, ∞)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hidden-layer choice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Leaky ReLU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(−∞, ∞)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Fixes 'dying' ReLU neurons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(−α, ∞)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Smoother negative-side gradients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Swish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(≈−0.28, ∞)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 ReLU alternative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Softmax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(0,1), Σ=1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4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Multi-class output layer only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ACTIVATION FUNCTIONS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Softmax Turns Logits into Probabilities</a:t>
            </a:r>
            <a:endParaRPr lang="en-US" sz="2700" dirty="0"/>
          </a:p>
        </p:txBody>
      </p:sp>
      <p:pic>
        <p:nvPicPr>
          <p:cNvPr id="5" name="Image 0" descr="/home/claude/Week3_Day1_ANN_v2/figures/v2_07b_softm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502920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FORWARD PROPAGATION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Data Moves Forward</a:t>
            </a:r>
            <a:endParaRPr lang="en-US" sz="2700" dirty="0"/>
          </a:p>
        </p:txBody>
      </p:sp>
      <p:pic>
        <p:nvPicPr>
          <p:cNvPr id="5" name="Image 0" descr="/home/claude/Week3_Day1_ANN_v2/figures/v2_06_forward_propa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1124712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[0.6, 0.9]  →  Z1=W1·X+b1, A1=tanh(Z1)  →  Z2=W2·A1+b2, A2=sigmoid(Z2)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identical to Keras once weights are copied — see ANN_Notebook_v2.ipynb, Sections 4–5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TRAINING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Tuning Knobs (Hyperparameters)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084832" cy="4023360"/>
          </a:xfrm>
          <a:prstGeom prst="roundRect">
            <a:avLst>
              <a:gd name="adj" fmla="val 3509"/>
            </a:avLst>
          </a:prstGeom>
          <a:solidFill>
            <a:srgbClr val="0F6F6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of each weight update step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62072" y="1691640"/>
            <a:ext cx="2084832" cy="4023360"/>
          </a:xfrm>
          <a:prstGeom prst="roundRect">
            <a:avLst>
              <a:gd name="adj" fmla="val 3509"/>
            </a:avLst>
          </a:prstGeom>
          <a:solidFill>
            <a:srgbClr val="5B3A8E"/>
          </a:solidFill>
          <a:ln/>
        </p:spPr>
      </p:sp>
      <p:sp>
        <p:nvSpPr>
          <p:cNvPr id="9" name="Text 7"/>
          <p:cNvSpPr/>
          <p:nvPr/>
        </p:nvSpPr>
        <p:spPr>
          <a:xfrm>
            <a:off x="2999232" y="196596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999232" y="283464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averaged per update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84064" y="1691640"/>
            <a:ext cx="2084832" cy="4023360"/>
          </a:xfrm>
          <a:prstGeom prst="roundRect">
            <a:avLst>
              <a:gd name="adj" fmla="val 3509"/>
            </a:avLst>
          </a:prstGeom>
          <a:solidFill>
            <a:srgbClr val="0F6F6F"/>
          </a:solidFill>
          <a:ln/>
        </p:spPr>
      </p:sp>
      <p:sp>
        <p:nvSpPr>
          <p:cNvPr id="12" name="Text 10"/>
          <p:cNvSpPr/>
          <p:nvPr/>
        </p:nvSpPr>
        <p:spPr>
          <a:xfrm>
            <a:off x="5221224" y="196596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21224" y="283464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passes through training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06056" y="1691640"/>
            <a:ext cx="2084832" cy="4023360"/>
          </a:xfrm>
          <a:prstGeom prst="roundRect">
            <a:avLst>
              <a:gd name="adj" fmla="val 3509"/>
            </a:avLst>
          </a:prstGeom>
          <a:solidFill>
            <a:srgbClr val="5B3A8E"/>
          </a:solidFill>
          <a:ln/>
        </p:spPr>
      </p:sp>
      <p:sp>
        <p:nvSpPr>
          <p:cNvPr id="15" name="Text 13"/>
          <p:cNvSpPr/>
          <p:nvPr/>
        </p:nvSpPr>
        <p:spPr>
          <a:xfrm>
            <a:off x="7443216" y="196596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&amp; Width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443216" y="283464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layers &amp; neurons per layer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28048" y="1691640"/>
            <a:ext cx="2084832" cy="4023360"/>
          </a:xfrm>
          <a:prstGeom prst="roundRect">
            <a:avLst>
              <a:gd name="adj" fmla="val 3509"/>
            </a:avLst>
          </a:prstGeom>
          <a:solidFill>
            <a:srgbClr val="0F6F6F"/>
          </a:solidFill>
          <a:ln/>
        </p:spPr>
      </p:sp>
      <p:sp>
        <p:nvSpPr>
          <p:cNvPr id="18" name="Text 16"/>
          <p:cNvSpPr/>
          <p:nvPr/>
        </p:nvSpPr>
        <p:spPr>
          <a:xfrm>
            <a:off x="9665208" y="196596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Rate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65208" y="283464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 of neurons randomly disabled to fight overfitting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TRADE-OFFS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ANN Shines / Where It Struggles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E9F5F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directly from raw data — no manual feature engineering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approximate any continuous function given enough capacity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predictably with more data and compute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BEDE8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Struggles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large amounts of labeled data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Computationally expensive relative to simpler models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explain — a 'black box' by default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35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overfit without regularization like dropout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DEPLOYMENTS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Deployments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BF8F3"/>
          </a:solidFill>
          <a:ln w="19050">
            <a:solidFill>
              <a:srgbClr val="0F6F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47088"/>
            <a:ext cx="384048" cy="384048"/>
          </a:xfrm>
          <a:prstGeom prst="ellipse">
            <a:avLst/>
          </a:prstGeom>
          <a:solidFill>
            <a:srgbClr val="0F6F6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317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Diagnostics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69748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classification (this project's applied task)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BF8F3"/>
          </a:solidFill>
          <a:ln w="19050">
            <a:solidFill>
              <a:srgbClr val="5B3A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1847088"/>
            <a:ext cx="384048" cy="384048"/>
          </a:xfrm>
          <a:prstGeom prst="ellipse">
            <a:avLst/>
          </a:prstGeom>
          <a:solidFill>
            <a:srgbClr val="5B3A8E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3317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44568" y="269748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&amp; face recognition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BF8F3"/>
          </a:solidFill>
          <a:ln w="19050">
            <a:solidFill>
              <a:srgbClr val="E865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7888" y="1847088"/>
            <a:ext cx="384048" cy="384048"/>
          </a:xfrm>
          <a:prstGeom prst="ellipse">
            <a:avLst/>
          </a:prstGeom>
          <a:solidFill>
            <a:srgbClr val="E8654A"/>
          </a:solidFill>
          <a:ln/>
        </p:spPr>
      </p:sp>
      <p:sp>
        <p:nvSpPr>
          <p:cNvPr id="15" name="Text 13"/>
          <p:cNvSpPr/>
          <p:nvPr/>
        </p:nvSpPr>
        <p:spPr>
          <a:xfrm>
            <a:off x="8247888" y="233172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47888" y="269748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scoring, fraud detection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BF8F3"/>
          </a:solidFill>
          <a:ln w="19050">
            <a:solidFill>
              <a:srgbClr val="1FA3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3767328"/>
            <a:ext cx="384048" cy="384048"/>
          </a:xfrm>
          <a:prstGeom prst="ellipse">
            <a:avLst/>
          </a:prstGeom>
          <a:solidFill>
            <a:srgbClr val="1FA3A3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42519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&amp; Speech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461772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Transcription, translation, chatbots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43400" y="35661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BF8F3"/>
          </a:solidFill>
          <a:ln w="19050">
            <a:solidFill>
              <a:srgbClr val="5B3A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44568" y="3767328"/>
            <a:ext cx="384048" cy="384048"/>
          </a:xfrm>
          <a:prstGeom prst="ellipse">
            <a:avLst/>
          </a:prstGeom>
          <a:solidFill>
            <a:srgbClr val="5B3A8E"/>
          </a:solidFill>
          <a:ln/>
        </p:spPr>
      </p:sp>
      <p:sp>
        <p:nvSpPr>
          <p:cNvPr id="23" name="Text 21"/>
          <p:cNvSpPr/>
          <p:nvPr/>
        </p:nvSpPr>
        <p:spPr>
          <a:xfrm>
            <a:off x="4544568" y="42519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Engines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44568" y="461772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content ranking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46720" y="35661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BF8F3"/>
          </a:solidFill>
          <a:ln w="19050">
            <a:solidFill>
              <a:srgbClr val="0F6F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47888" y="3767328"/>
            <a:ext cx="384048" cy="384048"/>
          </a:xfrm>
          <a:prstGeom prst="ellipse">
            <a:avLst/>
          </a:prstGeom>
          <a:solidFill>
            <a:srgbClr val="0F6F6F"/>
          </a:solidFill>
          <a:ln/>
        </p:spPr>
      </p:sp>
      <p:sp>
        <p:nvSpPr>
          <p:cNvPr id="27" name="Text 25"/>
          <p:cNvSpPr/>
          <p:nvPr/>
        </p:nvSpPr>
        <p:spPr>
          <a:xfrm>
            <a:off x="8247888" y="42519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47888" y="461772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planning, stock trends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APPLIED PROJECT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Breast Cancer Wisconsin Classifier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332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60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569 samples, 30 numeric features, binary target (malignant / benign)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60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30 → 20 → Dropout(0.15) → 10 → 1 (sigmoid)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60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 Adam, learning rate 0.001, 60 epochs, batch size 32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–"/>
            </a:pPr>
            <a:r>
              <a:rPr lang="en-US" sz="1600" dirty="0">
                <a:solidFill>
                  <a:srgbClr val="3A4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added specifically to reduce overfitting risk on this small dataset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APPLIED PROJECT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&amp; Validation Curves</a:t>
            </a:r>
            <a:endParaRPr lang="en-US" sz="2700" dirty="0"/>
          </a:p>
        </p:txBody>
      </p:sp>
      <p:pic>
        <p:nvPicPr>
          <p:cNvPr id="5" name="Image 0" descr="/home/claude/Week3_Day1_ANN_v2/figures/v2_training_curves_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1106424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APPLIED PROJECT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</a:t>
            </a:r>
            <a:endParaRPr lang="en-US" sz="2700" dirty="0"/>
          </a:p>
        </p:txBody>
      </p:sp>
      <p:pic>
        <p:nvPicPr>
          <p:cNvPr id="5" name="Image 0" descr="/home/claude/Week3_Day1_ANN_v2/figures/v2_confusion_matrix_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280160"/>
            <a:ext cx="457200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77724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1F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APPLIED PROJECT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658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Training Pipeline</a:t>
            </a:r>
            <a:endParaRPr lang="en-US" sz="2700" dirty="0"/>
          </a:p>
        </p:txBody>
      </p:sp>
      <p:pic>
        <p:nvPicPr>
          <p:cNvPr id="5" name="Image 0" descr="/home/claude/Week3_Day1_ANN_v2/figures/v2_08_trainin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188720"/>
            <a:ext cx="4206240" cy="5212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654A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743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849</Words>
  <Application>Microsoft Office PowerPoint</Application>
  <PresentationFormat>Widescreen</PresentationFormat>
  <Paragraphs>195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Alishba asif</cp:lastModifiedBy>
  <cp:revision>2</cp:revision>
  <dcterms:created xsi:type="dcterms:W3CDTF">2026-07-21T05:42:49Z</dcterms:created>
  <dcterms:modified xsi:type="dcterms:W3CDTF">2026-07-21T06:36:25Z</dcterms:modified>
</cp:coreProperties>
</file>