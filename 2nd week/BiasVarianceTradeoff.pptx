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2" d="100"/>
          <a:sy n="62" d="100"/>
        </p:scale>
        <p:origin x="80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873089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4937760" cy="4937760"/>
          </a:xfrm>
          <a:prstGeom prst="ellipse">
            <a:avLst/>
          </a:prstGeom>
          <a:solidFill>
            <a:srgbClr val="3D5A80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966960" y="4023360"/>
            <a:ext cx="2926080" cy="2926080"/>
          </a:xfrm>
          <a:prstGeom prst="ellipse">
            <a:avLst/>
          </a:prstGeom>
          <a:solidFill>
            <a:srgbClr val="E8A33D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457200"/>
            <a:ext cx="685800" cy="685800"/>
          </a:xfrm>
          <a:prstGeom prst="ellipse">
            <a:avLst/>
          </a:prstGeom>
          <a:solidFill>
            <a:srgbClr val="3D5A80"/>
          </a:solidFill>
          <a:ln/>
        </p:spPr>
      </p:sp>
      <p:pic>
        <p:nvPicPr>
          <p:cNvPr id="5" name="Image 0" descr="/home/claude/bvt/assets/icon_bal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612648"/>
            <a:ext cx="374904" cy="37490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56692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CONCEPTS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169164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Bias-Variance Tradeoff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548640" y="26060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the Curse of Dimensionality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548640" y="3749040"/>
            <a:ext cx="822960" cy="502920"/>
          </a:xfrm>
          <a:prstGeom prst="roundRect">
            <a:avLst>
              <a:gd name="adj" fmla="val 50909"/>
            </a:avLst>
          </a:prstGeom>
          <a:solidFill>
            <a:srgbClr val="3D5A80">
              <a:alpha val="85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374904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1600200" y="3749040"/>
            <a:ext cx="1261872" cy="502920"/>
          </a:xfrm>
          <a:prstGeom prst="roundRect">
            <a:avLst>
              <a:gd name="adj" fmla="val 50909"/>
            </a:avLst>
          </a:prstGeom>
          <a:solidFill>
            <a:srgbClr val="3D5A80">
              <a:alpha val="85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1600200" y="3749040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090672" y="3749040"/>
            <a:ext cx="1920240" cy="502920"/>
          </a:xfrm>
          <a:prstGeom prst="roundRect">
            <a:avLst>
              <a:gd name="adj" fmla="val 50909"/>
            </a:avLst>
          </a:prstGeom>
          <a:solidFill>
            <a:srgbClr val="3D5A80">
              <a:alpha val="85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3090672" y="37490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Dimensionality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3" name="Image 0" descr="/home/claude/bvt/assets/icon_agend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" y="525780"/>
            <a:ext cx="301752" cy="3017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61872" y="347472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548640" y="9692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3D5A80">
              <a:alpha val="8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15544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D5A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1828800" y="162763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&amp; Variance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828800" y="199339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definitions and where each one comes from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2670048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E8A33D">
              <a:alpha val="8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822960" y="2670048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1828800" y="274320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Visualizing the Tradeoff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828800" y="310896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Dartboard analogy and underfit / overfit curves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48640" y="3785616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E4572E">
              <a:alpha val="800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822960" y="3785616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1828800" y="3858768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Tradeoff Exists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828800" y="4224528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error decomposition behind the U-shaped curve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548640" y="4901184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1B1F3B">
              <a:alpha val="8000"/>
            </a:srgbClr>
          </a:solidFill>
          <a:ln/>
        </p:spPr>
      </p:sp>
      <p:sp>
        <p:nvSpPr>
          <p:cNvPr id="19" name="Text 16"/>
          <p:cNvSpPr/>
          <p:nvPr/>
        </p:nvSpPr>
        <p:spPr>
          <a:xfrm>
            <a:off x="822960" y="4901184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1828800" y="4974336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Curse of Dimensionality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828800" y="5340096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more features can make models worse, not better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3" name="Image 0" descr="/home/claude/bvt/assets/icon_bal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" y="525780"/>
            <a:ext cx="301752" cy="3017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61872" y="347472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Bias vs. Variance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548640" y="9692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1508760"/>
            <a:ext cx="5349240" cy="4709160"/>
          </a:xfrm>
          <a:prstGeom prst="roundRect">
            <a:avLst>
              <a:gd name="adj" fmla="val 2330"/>
            </a:avLst>
          </a:prstGeom>
          <a:solidFill>
            <a:srgbClr val="3D5A80">
              <a:alpha val="10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804672" y="1764792"/>
            <a:ext cx="164592" cy="164592"/>
          </a:xfrm>
          <a:prstGeom prst="ellipse">
            <a:avLst/>
          </a:prstGeom>
          <a:solidFill>
            <a:srgbClr val="3D5A80"/>
          </a:solidFill>
          <a:ln/>
        </p:spPr>
      </p:sp>
      <p:sp>
        <p:nvSpPr>
          <p:cNvPr id="8" name="Text 5"/>
          <p:cNvSpPr/>
          <p:nvPr/>
        </p:nvSpPr>
        <p:spPr>
          <a:xfrm>
            <a:off x="1097280" y="1709928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04672" y="2167128"/>
            <a:ext cx="4837176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600"/>
              </a:spcAft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from overly simplistic assumptions — the model misses real patterns in the data.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to underfitting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error on training AND test data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cause: model too simple, too few features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263640" y="1508760"/>
            <a:ext cx="5349240" cy="4709160"/>
          </a:xfrm>
          <a:prstGeom prst="roundRect">
            <a:avLst>
              <a:gd name="adj" fmla="val 2330"/>
            </a:avLst>
          </a:prstGeom>
          <a:solidFill>
            <a:srgbClr val="E4572E">
              <a:alpha val="1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6519672" y="1764792"/>
            <a:ext cx="164592" cy="164592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2" name="Text 9"/>
          <p:cNvSpPr/>
          <p:nvPr/>
        </p:nvSpPr>
        <p:spPr>
          <a:xfrm>
            <a:off x="6812280" y="1709928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519672" y="2167128"/>
            <a:ext cx="4837176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600"/>
              </a:spcAft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from excessive sensitivity to the training data — the model fits noise, not signal.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to overfitting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training error, high test error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cause: model too complex, too little data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3D5A80"/>
          </a:solidFill>
          <a:ln/>
        </p:spPr>
      </p:sp>
      <p:pic>
        <p:nvPicPr>
          <p:cNvPr id="3" name="Image 0" descr="/home/claude/bvt/assets/icon_tar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" y="525780"/>
            <a:ext cx="301752" cy="3017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61872" y="347472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Dartboard Analogy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548640" y="9692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VISUALIZING BIAS &amp; VARIANCE</a:t>
            </a:r>
            <a:endParaRPr lang="en-US" sz="1200" dirty="0"/>
          </a:p>
        </p:txBody>
      </p:sp>
      <p:pic>
        <p:nvPicPr>
          <p:cNvPr id="6" name="Image 1" descr="/home/claude/bvt/assets/chart1_dart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1610474"/>
            <a:ext cx="6995160" cy="25146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818120" y="160020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7818120" y="1984248"/>
            <a:ext cx="37947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Bef>
                <a:spcPts val="1000"/>
              </a:spcBef>
              <a:spcAft>
                <a:spcPts val="1400"/>
              </a:spcAft>
              <a:buSzPct val="100000"/>
              <a:buChar char="●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Bullseye = the true value we're trying to predict</a:t>
            </a:r>
            <a:endParaRPr lang="en-US" sz="14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Bottom-left target is the goal — tight AND on-target</a:t>
            </a:r>
            <a:endParaRPr lang="en-US" sz="14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pulls predictions off-target; variance scatters them</a:t>
            </a:r>
            <a:endParaRPr lang="en-US" sz="14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models rarely hit the ideal — the tradeoff is unavoidable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3" name="Image 0" descr="/home/claude/bvt/assets/icon_chart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" y="525780"/>
            <a:ext cx="301752" cy="3017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61872" y="347472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Tradeoff Exists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548640" y="9692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DECOMPOSITION</a:t>
            </a:r>
            <a:endParaRPr lang="en-US" sz="1200" dirty="0"/>
          </a:p>
        </p:txBody>
      </p:sp>
      <p:pic>
        <p:nvPicPr>
          <p:cNvPr id="6" name="Image 1" descr="/home/claude/bvt/assets/chart3_tradeo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1508760"/>
            <a:ext cx="6720840" cy="352044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7498080" y="1508760"/>
            <a:ext cx="4114800" cy="777240"/>
          </a:xfrm>
          <a:prstGeom prst="roundRect">
            <a:avLst>
              <a:gd name="adj" fmla="val 11765"/>
            </a:avLst>
          </a:prstGeom>
          <a:solidFill>
            <a:srgbClr val="E4572E">
              <a:alpha val="8000"/>
            </a:srgbClr>
          </a:solidFill>
          <a:ln/>
        </p:spPr>
      </p:sp>
      <p:sp>
        <p:nvSpPr>
          <p:cNvPr id="8" name="Text 4"/>
          <p:cNvSpPr/>
          <p:nvPr/>
        </p:nvSpPr>
        <p:spPr>
          <a:xfrm>
            <a:off x="7680960" y="150876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Error = Bias² + Variance + Irreducible Error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7498080" y="251460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7498080" y="2898648"/>
            <a:ext cx="41148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Bef>
                <a:spcPts val="1000"/>
              </a:spcBef>
              <a:spcAft>
                <a:spcPts val="1400"/>
              </a:spcAft>
              <a:buSzPct val="100000"/>
              <a:buChar char="●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models: high bias, low variance</a:t>
            </a:r>
            <a:endParaRPr lang="en-US" sz="14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models: low bias, high variance</a:t>
            </a:r>
            <a:endParaRPr lang="en-US" sz="14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error is lowest at an intermediate complexity</a:t>
            </a:r>
            <a:endParaRPr lang="en-US" sz="14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and variance can't both be driven to zero at once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3" name="Image 0" descr="/home/claude/bvt/assets/icon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" y="525780"/>
            <a:ext cx="301752" cy="3017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61872" y="347472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Curse of Dimensionality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548640" y="9692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FEATURES GROW, SPACE EXPLODES</a:t>
            </a:r>
            <a:endParaRPr lang="en-US" sz="1200" dirty="0"/>
          </a:p>
        </p:txBody>
      </p:sp>
      <p:pic>
        <p:nvPicPr>
          <p:cNvPr id="6" name="Image 1" descr="/home/claude/bvt/assets/chart4_cur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1554480"/>
            <a:ext cx="7086600" cy="256946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955280" y="15544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7955280" y="1938528"/>
            <a:ext cx="36576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Bef>
                <a:spcPts val="1000"/>
              </a:spcBef>
              <a:spcAft>
                <a:spcPts val="1400"/>
              </a:spcAft>
              <a:buSzPct val="100000"/>
              <a:buChar char="●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needed to keep density constant grows exponentially with dimensions</a:t>
            </a:r>
            <a:endParaRPr lang="en-US" sz="14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“close” in 2D become nearly equidistant in 20D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3D5A80"/>
          </a:solidFill>
          <a:ln/>
        </p:spPr>
      </p:sp>
      <p:pic>
        <p:nvPicPr>
          <p:cNvPr id="3" name="Image 0" descr="/home/claude/bvt/assets/icon_lin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" y="525780"/>
            <a:ext cx="301752" cy="3017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61872" y="347472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Connecting the Dots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548640" y="9692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DIMENSIONALITY MEETS THE TRADEOFF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1508760"/>
            <a:ext cx="3502152" cy="4709160"/>
          </a:xfrm>
          <a:prstGeom prst="roundRect">
            <a:avLst>
              <a:gd name="adj" fmla="val 3133"/>
            </a:avLst>
          </a:prstGeom>
          <a:solidFill>
            <a:srgbClr val="3D5A80">
              <a:alpha val="10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804672" y="1764792"/>
            <a:ext cx="164592" cy="164592"/>
          </a:xfrm>
          <a:prstGeom prst="ellipse">
            <a:avLst/>
          </a:prstGeom>
          <a:solidFill>
            <a:srgbClr val="3D5A80"/>
          </a:solidFill>
          <a:ln/>
        </p:spPr>
      </p:sp>
      <p:sp>
        <p:nvSpPr>
          <p:cNvPr id="8" name="Text 5"/>
          <p:cNvSpPr/>
          <p:nvPr/>
        </p:nvSpPr>
        <p:spPr>
          <a:xfrm>
            <a:off x="1097280" y="1709928"/>
            <a:ext cx="2679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FEATURES, MORE FLEXIBILITY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04672" y="2167128"/>
            <a:ext cx="2990088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dimensions let a model fit far more complex decision boundaries — naturally pushing variance up.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4325112" y="1508760"/>
            <a:ext cx="3502152" cy="4709160"/>
          </a:xfrm>
          <a:prstGeom prst="roundRect">
            <a:avLst>
              <a:gd name="adj" fmla="val 3133"/>
            </a:avLst>
          </a:prstGeom>
          <a:solidFill>
            <a:srgbClr val="E8A33D">
              <a:alpha val="12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4581144" y="1764792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2" name="Text 9"/>
          <p:cNvSpPr/>
          <p:nvPr/>
        </p:nvSpPr>
        <p:spPr>
          <a:xfrm>
            <a:off x="4873752" y="1709928"/>
            <a:ext cx="2679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DATA, SPARSER COVERAGE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581144" y="2167128"/>
            <a:ext cx="2990088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dataset covers exponentially less of a high-dimensional space — starving the model of signal.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8101584" y="1508760"/>
            <a:ext cx="3502152" cy="4709160"/>
          </a:xfrm>
          <a:prstGeom prst="roundRect">
            <a:avLst>
              <a:gd name="adj" fmla="val 3133"/>
            </a:avLst>
          </a:prstGeom>
          <a:solidFill>
            <a:srgbClr val="E4572E">
              <a:alpha val="1000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8357616" y="1764792"/>
            <a:ext cx="164592" cy="164592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6" name="Text 13"/>
          <p:cNvSpPr/>
          <p:nvPr/>
        </p:nvSpPr>
        <p:spPr>
          <a:xfrm>
            <a:off x="8650224" y="1709928"/>
            <a:ext cx="2679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COUNTERING THE CURSE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8357616" y="2167128"/>
            <a:ext cx="2990088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Dimensionality reduction (PCA)</a:t>
            </a:r>
            <a:endParaRPr lang="en-US" sz="1300" dirty="0"/>
          </a:p>
          <a:p>
            <a:pPr marL="203200" indent="-2032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Regularization (L1 / L2)</a:t>
            </a:r>
            <a:endParaRPr lang="en-US" sz="1300" dirty="0"/>
          </a:p>
          <a:p>
            <a:pPr marL="203200" indent="-2032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selection</a:t>
            </a:r>
            <a:endParaRPr lang="en-US" sz="1300" dirty="0"/>
          </a:p>
          <a:p>
            <a:pPr marL="203200" indent="-2032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Collecting more training data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/>
          <p:nvPr/>
        </p:nvSpPr>
        <p:spPr>
          <a:xfrm>
            <a:off x="4391175" y="2125928"/>
            <a:ext cx="4393230" cy="26061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dirty="0">
                <a:latin typeface="Algerian" panose="04020705040A02060702" pitchFamily="82" charset="0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359</Words>
  <Application>Microsoft Office PowerPoint</Application>
  <PresentationFormat>Widescreen</PresentationFormat>
  <Paragraphs>72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Algerian</vt:lpstr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Alishba asif</cp:lastModifiedBy>
  <cp:revision>3</cp:revision>
  <dcterms:created xsi:type="dcterms:W3CDTF">2026-07-15T20:29:49Z</dcterms:created>
  <dcterms:modified xsi:type="dcterms:W3CDTF">2026-07-15T20:36:08Z</dcterms:modified>
</cp:coreProperties>
</file>