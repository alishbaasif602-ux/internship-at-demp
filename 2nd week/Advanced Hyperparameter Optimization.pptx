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0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3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SemiBold" panose="020B0604020202020204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SemiBold" panose="000007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F837DF7-30CB-4886-9D55-1558D7FBEA41}">
  <a:tblStyle styleId="{0F837DF7-30CB-4886-9D55-1558D7FBEA4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64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514e05fa3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f514e05fa3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514e05fa3_2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f514e05fa3_2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514e05fa3_2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f514e05fa3_2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514e05fa3_2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f514e05fa3_2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514e05fa3_2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f514e05fa3_2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514e05fa3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g3f514e05fa3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514e05fa3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3f514e05fa3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514e05fa3_2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g3f514e05fa3_2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514e05fa3_2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g3f514e05fa3_2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514e05fa3_2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g3f514e05fa3_2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46686" y="1988046"/>
            <a:ext cx="3298626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47694" y="2473821"/>
            <a:ext cx="7896611" cy="140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Bayesian Optimization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Genetic Algorithms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4199632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architectural and conceptual overview of the two state-of-the-art model-based tuning techniques.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46686" y="1988046"/>
            <a:ext cx="3298626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2147694" y="2473821"/>
            <a:ext cx="7896611" cy="1401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Bayesian Optimization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Genetic Algorithms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2286000" y="4199632"/>
            <a:ext cx="7620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 architectural and conceptual overview of the two state-of-the-art model-based tuning techniques.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2210514" y="2852737"/>
            <a:ext cx="7770971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 3: Bayesian Optimization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3238500" y="3719512"/>
            <a:ext cx="5715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Sequential Model-Based Optimization (SMBO) using probabilistic models.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57400"/>
            <a:ext cx="503872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/>
        </p:nvSpPr>
        <p:spPr>
          <a:xfrm>
            <a:off x="771525" y="2583656"/>
            <a:ext cx="503872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Bayesian Optimization operates by treating the validation accuracy as a black-box function and approximating it via a **Surrogate Model**: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1009650" y="3551039"/>
            <a:ext cx="480060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Surrogate Model: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Typically a </a:t>
            </a:r>
            <a:r>
              <a:rPr lang="en-US" sz="1275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Gaussian Process (GP)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it models the predicted performance and the statistical uncertainty at untested regions.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1009650" y="4480321"/>
            <a:ext cx="48006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Feedback Loop: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Every new objective evaluation updates the model's posterior distribution, refining predictions dynamically.</a:t>
            </a:r>
            <a:endParaRPr/>
          </a:p>
        </p:txBody>
      </p:sp>
      <p:pic>
        <p:nvPicPr>
          <p:cNvPr id="163" name="Google Shape;16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66925"/>
            <a:ext cx="50196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771525" y="3551039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771525" y="4480321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166" name="Google Shape;166;p20"/>
          <p:cNvSpPr txBox="1"/>
          <p:nvPr/>
        </p:nvSpPr>
        <p:spPr>
          <a:xfrm>
            <a:off x="914400" y="581025"/>
            <a:ext cx="1103137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 3</a:t>
            </a:r>
            <a:r>
              <a:rPr lang="en-US" sz="28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Bayesian Optimization Core Concept</a:t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771525" y="581025"/>
            <a:ext cx="47625" cy="5429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676525"/>
            <a:ext cx="4791967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72840" y="3666827"/>
            <a:ext cx="2789336" cy="40064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 txBox="1"/>
          <p:nvPr/>
        </p:nvSpPr>
        <p:spPr>
          <a:xfrm>
            <a:off x="6039742" y="2751236"/>
            <a:ext cx="6149674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Balancing Exploration vs. Exploitation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6039742" y="3027461"/>
            <a:ext cx="5856833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Bayesian Optimization uses an </a:t>
            </a:r>
            <a:r>
              <a:rPr lang="en-US" sz="1275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Acquisition Function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to select the next hyperparameter set to evaluate: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5944492" y="3689211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6039742" y="3688258"/>
            <a:ext cx="5856833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Expected Improvement (EI):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Measures likelihood of discovering a point superior to the current best.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5944492" y="4207132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6039742" y="4206180"/>
            <a:ext cx="5856833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Exploitation: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Tests regions predicted to yield high accuracy.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5944492" y="4466093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6039742" y="4465141"/>
            <a:ext cx="5856833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Exploration: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Directs testing toward areas with maximum uncertainty to build a more accurate surrogate model.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914400" y="581025"/>
            <a:ext cx="1103137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Mechanics</a:t>
            </a:r>
            <a:r>
              <a:rPr lang="en-US" sz="28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Math &amp; Acquisition Functions</a:t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>
            <a:off x="771525" y="581025"/>
            <a:ext cx="47625" cy="5429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516981"/>
            <a:ext cx="3390900" cy="2700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00550" y="2516981"/>
            <a:ext cx="3390900" cy="2700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9575" y="2516981"/>
            <a:ext cx="3390900" cy="270033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/>
        </p:nvSpPr>
        <p:spPr>
          <a:xfrm>
            <a:off x="1066800" y="3421856"/>
            <a:ext cx="294036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Advantages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1066800" y="3850481"/>
            <a:ext cx="2800350" cy="107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Highly sample-efficient. Finds near-optimal parameters in a fraction of evaluations compared to Grid or Random search. Excellent for heavy deep learning models.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4695825" y="3421856"/>
            <a:ext cx="294036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Bottlenecks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4695825" y="3850481"/>
            <a:ext cx="2800350" cy="107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Computational overhead scales cubically with the number of iterations because of Gaussian Process updates. Difficult to parallelize since it is inherently sequential.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8324850" y="3421856"/>
            <a:ext cx="294036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Best Used For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8324850" y="3850481"/>
            <a:ext cx="28003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Extremely expensive evaluation tasks where a single run of the machine learning model takes hours or days to compute.</a:t>
            </a:r>
            <a:endParaRPr/>
          </a:p>
        </p:txBody>
      </p:sp>
      <p:pic>
        <p:nvPicPr>
          <p:cNvPr id="199" name="Google Shape;199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800" y="285035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285035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24850" y="2850356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914400" y="581025"/>
            <a:ext cx="1103137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Evaluation</a:t>
            </a:r>
            <a:r>
              <a:rPr lang="en-US" sz="28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Bayesian Optimization: Pros &amp; Cons</a:t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771525" y="581025"/>
            <a:ext cx="47625" cy="5429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 txBox="1"/>
          <p:nvPr/>
        </p:nvSpPr>
        <p:spPr>
          <a:xfrm>
            <a:off x="2620565" y="2852737"/>
            <a:ext cx="6950868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 4: Genetic Algorithms</a:t>
            </a:r>
            <a:endParaRPr/>
          </a:p>
        </p:txBody>
      </p:sp>
      <p:sp>
        <p:nvSpPr>
          <p:cNvPr id="210" name="Google Shape;210;p23"/>
          <p:cNvSpPr txBox="1"/>
          <p:nvPr/>
        </p:nvSpPr>
        <p:spPr>
          <a:xfrm>
            <a:off x="3238500" y="3719512"/>
            <a:ext cx="5715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Evolutionary heuristics modeled after biology and natural selection.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57400"/>
            <a:ext cx="503872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4"/>
          <p:cNvSpPr txBox="1"/>
          <p:nvPr/>
        </p:nvSpPr>
        <p:spPr>
          <a:xfrm>
            <a:off x="771525" y="2377975"/>
            <a:ext cx="503872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Genetic Algorithms find optimal hyperparameters by treating parameters like genetic material and evolving them over generations:</a:t>
            </a:r>
            <a:endParaRPr/>
          </a:p>
        </p:txBody>
      </p:sp>
      <p:sp>
        <p:nvSpPr>
          <p:cNvPr id="218" name="Google Shape;218;p24"/>
          <p:cNvSpPr txBox="1"/>
          <p:nvPr/>
        </p:nvSpPr>
        <p:spPr>
          <a:xfrm>
            <a:off x="1009650" y="3345358"/>
            <a:ext cx="48006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Chromosomes: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Every hyperparameter configuration behaves as a chromosome string (encoded values).</a:t>
            </a:r>
            <a:endParaRPr/>
          </a:p>
        </p:txBody>
      </p:sp>
      <p:sp>
        <p:nvSpPr>
          <p:cNvPr id="219" name="Google Shape;219;p24"/>
          <p:cNvSpPr txBox="1"/>
          <p:nvPr/>
        </p:nvSpPr>
        <p:spPr>
          <a:xfrm>
            <a:off x="1009650" y="4015680"/>
            <a:ext cx="48006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Fitness Value: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performance/validation accuracy score of the ML model acts as its survival fitness.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1009650" y="4686002"/>
            <a:ext cx="480060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Generation Evolution: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Weak parameters are discarded while high-performing strings reproduce.</a:t>
            </a:r>
            <a:endParaRPr/>
          </a:p>
        </p:txBody>
      </p:sp>
      <p:pic>
        <p:nvPicPr>
          <p:cNvPr id="221" name="Google Shape;22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66925"/>
            <a:ext cx="50196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4"/>
          <p:cNvSpPr txBox="1"/>
          <p:nvPr/>
        </p:nvSpPr>
        <p:spPr>
          <a:xfrm>
            <a:off x="771525" y="3345358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23" name="Google Shape;223;p24"/>
          <p:cNvSpPr txBox="1"/>
          <p:nvPr/>
        </p:nvSpPr>
        <p:spPr>
          <a:xfrm>
            <a:off x="771525" y="4015680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771525" y="4686002"/>
            <a:ext cx="161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→</a:t>
            </a:r>
            <a:endParaRPr/>
          </a:p>
        </p:txBody>
      </p:sp>
      <p:sp>
        <p:nvSpPr>
          <p:cNvPr id="225" name="Google Shape;225;p24"/>
          <p:cNvSpPr txBox="1"/>
          <p:nvPr/>
        </p:nvSpPr>
        <p:spPr>
          <a:xfrm>
            <a:off x="914400" y="581025"/>
            <a:ext cx="1103137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 4</a:t>
            </a:r>
            <a:r>
              <a:rPr lang="en-US" sz="28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Genetic Algorithms (GA) Core Concept</a:t>
            </a:r>
            <a:endParaRPr/>
          </a:p>
        </p:txBody>
      </p:sp>
      <p:sp>
        <p:nvSpPr>
          <p:cNvPr id="226" name="Google Shape;226;p24"/>
          <p:cNvSpPr/>
          <p:nvPr/>
        </p:nvSpPr>
        <p:spPr>
          <a:xfrm>
            <a:off x="771525" y="581025"/>
            <a:ext cx="47625" cy="5429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4086225"/>
            <a:ext cx="10648950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5"/>
          <p:cNvSpPr txBox="1"/>
          <p:nvPr/>
        </p:nvSpPr>
        <p:spPr>
          <a:xfrm>
            <a:off x="712957" y="4343400"/>
            <a:ext cx="245983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Initialization</a:t>
            </a: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771525" y="4676775"/>
            <a:ext cx="2342703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Generate an initial random population of hyperparameter configuration candidates.</a:t>
            </a:r>
            <a:endParaRPr/>
          </a:p>
        </p:txBody>
      </p:sp>
      <p:sp>
        <p:nvSpPr>
          <p:cNvPr id="235" name="Google Shape;235;p25"/>
          <p:cNvSpPr txBox="1"/>
          <p:nvPr/>
        </p:nvSpPr>
        <p:spPr>
          <a:xfrm>
            <a:off x="3481607" y="2973883"/>
            <a:ext cx="245983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Selection</a:t>
            </a:r>
            <a:endParaRPr/>
          </a:p>
        </p:txBody>
      </p:sp>
      <p:sp>
        <p:nvSpPr>
          <p:cNvPr id="236" name="Google Shape;236;p25"/>
          <p:cNvSpPr txBox="1"/>
          <p:nvPr/>
        </p:nvSpPr>
        <p:spPr>
          <a:xfrm>
            <a:off x="3540174" y="3307258"/>
            <a:ext cx="2342703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Evaluate the model's fitness and pick parent configurations with the highest accuracy.</a:t>
            </a:r>
            <a:endParaRPr/>
          </a:p>
        </p:txBody>
      </p:sp>
      <p:sp>
        <p:nvSpPr>
          <p:cNvPr id="237" name="Google Shape;237;p25"/>
          <p:cNvSpPr txBox="1"/>
          <p:nvPr/>
        </p:nvSpPr>
        <p:spPr>
          <a:xfrm>
            <a:off x="6250256" y="4343400"/>
            <a:ext cx="245983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Crossover</a:t>
            </a:r>
            <a:endParaRPr/>
          </a:p>
        </p:txBody>
      </p:sp>
      <p:sp>
        <p:nvSpPr>
          <p:cNvPr id="238" name="Google Shape;238;p25"/>
          <p:cNvSpPr txBox="1"/>
          <p:nvPr/>
        </p:nvSpPr>
        <p:spPr>
          <a:xfrm>
            <a:off x="6308824" y="4676775"/>
            <a:ext cx="2342703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Merge parents' chromosomes to produce offspring with shared parameters.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9018906" y="2973883"/>
            <a:ext cx="245983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Mutation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9077473" y="3307258"/>
            <a:ext cx="2342703" cy="559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Randomly alter small values to explore new configurations and evade local optima.</a:t>
            </a:r>
            <a:endParaRPr/>
          </a:p>
        </p:txBody>
      </p:sp>
      <p:sp>
        <p:nvSpPr>
          <p:cNvPr id="241" name="Google Shape;241;p25"/>
          <p:cNvSpPr txBox="1"/>
          <p:nvPr/>
        </p:nvSpPr>
        <p:spPr>
          <a:xfrm>
            <a:off x="914400" y="581025"/>
            <a:ext cx="1103137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Mechanics</a:t>
            </a:r>
            <a:r>
              <a:rPr lang="en-US" sz="28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Genetic Algorithm Workflow Loop</a:t>
            </a:r>
            <a:endParaRPr/>
          </a:p>
        </p:txBody>
      </p:sp>
      <p:sp>
        <p:nvSpPr>
          <p:cNvPr id="242" name="Google Shape;242;p25"/>
          <p:cNvSpPr/>
          <p:nvPr/>
        </p:nvSpPr>
        <p:spPr>
          <a:xfrm>
            <a:off x="771525" y="581025"/>
            <a:ext cx="47625" cy="5429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1857151" y="40195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4625801" y="40195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7394450" y="40195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10163100" y="401955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06B6D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525" y="2516981"/>
            <a:ext cx="3390900" cy="2700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00550" y="2516981"/>
            <a:ext cx="3390900" cy="2700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29575" y="2516981"/>
            <a:ext cx="3390900" cy="2700337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6"/>
          <p:cNvSpPr txBox="1"/>
          <p:nvPr/>
        </p:nvSpPr>
        <p:spPr>
          <a:xfrm>
            <a:off x="1066800" y="3421856"/>
            <a:ext cx="294036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Advantages</a:t>
            </a:r>
            <a:endParaRPr/>
          </a:p>
        </p:txBody>
      </p:sp>
      <p:sp>
        <p:nvSpPr>
          <p:cNvPr id="256" name="Google Shape;256;p26"/>
          <p:cNvSpPr txBox="1"/>
          <p:nvPr/>
        </p:nvSpPr>
        <p:spPr>
          <a:xfrm>
            <a:off x="1066800" y="3850481"/>
            <a:ext cx="2800350" cy="107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Superb global search performance. Extremely robust against getting stuck in local minima. Exceptionally easy to parallelize since populations run simultaneously.</a:t>
            </a:r>
            <a:endParaRPr/>
          </a:p>
        </p:txBody>
      </p:sp>
      <p:sp>
        <p:nvSpPr>
          <p:cNvPr id="257" name="Google Shape;257;p26"/>
          <p:cNvSpPr txBox="1"/>
          <p:nvPr/>
        </p:nvSpPr>
        <p:spPr>
          <a:xfrm>
            <a:off x="4695825" y="3421856"/>
            <a:ext cx="294036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Bottlenecks</a:t>
            </a:r>
            <a:endParaRPr/>
          </a:p>
        </p:txBody>
      </p:sp>
      <p:sp>
        <p:nvSpPr>
          <p:cNvPr id="258" name="Google Shape;258;p26"/>
          <p:cNvSpPr txBox="1"/>
          <p:nvPr/>
        </p:nvSpPr>
        <p:spPr>
          <a:xfrm>
            <a:off x="4695825" y="3850481"/>
            <a:ext cx="2800350" cy="1071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Requires large populations to be effective, which may lead to high initial computing overhead. Complex setup parameters (mutation rates, crossover methods).</a:t>
            </a:r>
            <a:endParaRPr/>
          </a:p>
        </p:txBody>
      </p:sp>
      <p:sp>
        <p:nvSpPr>
          <p:cNvPr id="259" name="Google Shape;259;p26"/>
          <p:cNvSpPr txBox="1"/>
          <p:nvPr/>
        </p:nvSpPr>
        <p:spPr>
          <a:xfrm>
            <a:off x="8324850" y="3421856"/>
            <a:ext cx="2940367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Best Used For</a:t>
            </a:r>
            <a:endParaRPr/>
          </a:p>
        </p:txBody>
      </p:sp>
      <p:sp>
        <p:nvSpPr>
          <p:cNvPr id="260" name="Google Shape;260;p26"/>
          <p:cNvSpPr txBox="1"/>
          <p:nvPr/>
        </p:nvSpPr>
        <p:spPr>
          <a:xfrm>
            <a:off x="8324850" y="3850481"/>
            <a:ext cx="28003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Large multidimensional hyperparameter spaces, non-continuous parameter structures, and environments with distributed training cluster capability.</a:t>
            </a:r>
            <a:endParaRPr/>
          </a:p>
        </p:txBody>
      </p:sp>
      <p:pic>
        <p:nvPicPr>
          <p:cNvPr id="261" name="Google Shape;261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66800" y="285035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5825" y="2850356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24850" y="2850356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6"/>
          <p:cNvSpPr txBox="1"/>
          <p:nvPr/>
        </p:nvSpPr>
        <p:spPr>
          <a:xfrm>
            <a:off x="914400" y="581025"/>
            <a:ext cx="11031378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Evaluation</a:t>
            </a:r>
            <a:r>
              <a:rPr lang="en-US" sz="28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Genetic Algorithms: Pros &amp; Cons</a:t>
            </a:r>
            <a:endParaRPr/>
          </a:p>
        </p:txBody>
      </p:sp>
      <p:sp>
        <p:nvSpPr>
          <p:cNvPr id="265" name="Google Shape;265;p26"/>
          <p:cNvSpPr/>
          <p:nvPr/>
        </p:nvSpPr>
        <p:spPr>
          <a:xfrm>
            <a:off x="771525" y="581025"/>
            <a:ext cx="47625" cy="5429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0"/>
          <p:cNvSpPr txBox="1"/>
          <p:nvPr/>
        </p:nvSpPr>
        <p:spPr>
          <a:xfrm>
            <a:off x="2312249" y="2250727"/>
            <a:ext cx="7567352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Questions &amp; Answers</a:t>
            </a:r>
            <a:endParaRPr/>
          </a:p>
        </p:txBody>
      </p:sp>
      <p:sp>
        <p:nvSpPr>
          <p:cNvPr id="320" name="Google Shape;320;p30"/>
          <p:cNvSpPr txBox="1"/>
          <p:nvPr/>
        </p:nvSpPr>
        <p:spPr>
          <a:xfrm>
            <a:off x="2790825" y="3469927"/>
            <a:ext cx="66103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Thank you for listening! Let's discuss advanced optimization.</a:t>
            </a:r>
            <a:endParaRPr/>
          </a:p>
        </p:txBody>
      </p:sp>
      <p:sp>
        <p:nvSpPr>
          <p:cNvPr id="321" name="Google Shape;321;p30"/>
          <p:cNvSpPr txBox="1"/>
          <p:nvPr/>
        </p:nvSpPr>
        <p:spPr>
          <a:xfrm>
            <a:off x="3290887" y="4407098"/>
            <a:ext cx="25622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Parameter Tuning Presentation</a:t>
            </a:r>
            <a:endParaRPr/>
          </a:p>
        </p:txBody>
      </p:sp>
      <p:sp>
        <p:nvSpPr>
          <p:cNvPr id="322" name="Google Shape;322;p30"/>
          <p:cNvSpPr txBox="1"/>
          <p:nvPr/>
        </p:nvSpPr>
        <p:spPr>
          <a:xfrm>
            <a:off x="6500812" y="4407098"/>
            <a:ext cx="27146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machine.learning@university.edu</a:t>
            </a:r>
            <a:endParaRPr/>
          </a:p>
        </p:txBody>
      </p:sp>
      <p:pic>
        <p:nvPicPr>
          <p:cNvPr id="323" name="Google Shape;323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76562" y="4421385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4112" y="4421385"/>
            <a:ext cx="1714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530</Words>
  <Application>Microsoft Office PowerPoint</Application>
  <PresentationFormat>Widescreen</PresentationFormat>
  <Paragraphs>58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Poppins</vt:lpstr>
      <vt:lpstr>Inter</vt:lpstr>
      <vt:lpstr>Inter SemiBold</vt:lpstr>
      <vt:lpstr>Calibri</vt:lpstr>
      <vt:lpstr>Arial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Alishba asif</dc:creator>
  <cp:lastModifiedBy>Alishba asif</cp:lastModifiedBy>
  <cp:revision>1</cp:revision>
  <dcterms:modified xsi:type="dcterms:W3CDTF">2026-07-15T08:01:40Z</dcterms:modified>
</cp:coreProperties>
</file>