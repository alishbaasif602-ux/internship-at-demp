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3" r:id="rId7"/>
    <p:sldId id="264" r:id="rId8"/>
    <p:sldId id="265" r:id="rId9"/>
    <p:sldId id="266" r:id="rId10"/>
    <p:sldId id="267" r:id="rId11"/>
    <p:sldId id="268" r:id="rId12"/>
    <p:sldId id="27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48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6B4E9E">
              <a:alpha val="35000"/>
            </a:srgbClr>
          </a:solidFill>
          <a:ln/>
        </p:spPr>
      </p:sp>
      <p:sp>
        <p:nvSpPr>
          <p:cNvPr id="3" name="Shape 1"/>
          <p:cNvSpPr/>
          <p:nvPr/>
        </p:nvSpPr>
        <p:spPr>
          <a:xfrm>
            <a:off x="10607040" y="4297680"/>
            <a:ext cx="3108960" cy="3108960"/>
          </a:xfrm>
          <a:prstGeom prst="ellipse">
            <a:avLst/>
          </a:prstGeom>
          <a:solidFill>
            <a:srgbClr val="E8734A">
              <a:alpha val="25000"/>
            </a:srgbClr>
          </a:solidFill>
          <a:ln/>
        </p:spPr>
      </p:sp>
      <p:sp>
        <p:nvSpPr>
          <p:cNvPr id="4" name="Text 2"/>
          <p:cNvSpPr/>
          <p:nvPr/>
        </p:nvSpPr>
        <p:spPr>
          <a:xfrm>
            <a:off x="822960" y="2148840"/>
            <a:ext cx="8229600" cy="365760"/>
          </a:xfrm>
          <a:prstGeom prst="rect">
            <a:avLst/>
          </a:prstGeom>
          <a:noFill/>
          <a:ln/>
        </p:spPr>
        <p:txBody>
          <a:bodyPr wrap="square" lIns="0" tIns="0" rIns="0" bIns="0" rtlCol="0" anchor="ctr"/>
          <a:lstStyle/>
          <a:p>
            <a:pPr marL="0" indent="0">
              <a:buNone/>
            </a:pPr>
            <a:r>
              <a:rPr lang="en-US" sz="1300" b="1" kern="0" spc="300" dirty="0">
                <a:solidFill>
                  <a:srgbClr val="E8734A"/>
                </a:solidFill>
                <a:latin typeface="Calibri" pitchFamily="34" charset="0"/>
                <a:ea typeface="Calibri" pitchFamily="34" charset="-122"/>
                <a:cs typeface="Calibri" pitchFamily="34" charset="-120"/>
              </a:rPr>
              <a:t>MACHINE LEARNING FOUNDATIONS</a:t>
            </a:r>
            <a:endParaRPr lang="en-US" sz="1300" dirty="0"/>
          </a:p>
        </p:txBody>
      </p:sp>
      <p:sp>
        <p:nvSpPr>
          <p:cNvPr id="5" name="Text 3"/>
          <p:cNvSpPr/>
          <p:nvPr/>
        </p:nvSpPr>
        <p:spPr>
          <a:xfrm>
            <a:off x="777240" y="2514600"/>
            <a:ext cx="960120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Data Validation, Overfitting</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&amp; Underfitting</a:t>
            </a:r>
            <a:endParaRPr lang="en-US" sz="3800" dirty="0"/>
          </a:p>
        </p:txBody>
      </p:sp>
      <p:sp>
        <p:nvSpPr>
          <p:cNvPr id="6" name="Text 4"/>
          <p:cNvSpPr/>
          <p:nvPr/>
        </p:nvSpPr>
        <p:spPr>
          <a:xfrm>
            <a:off x="822960" y="3977640"/>
            <a:ext cx="8686800" cy="457200"/>
          </a:xfrm>
          <a:prstGeom prst="rect">
            <a:avLst/>
          </a:prstGeom>
          <a:noFill/>
          <a:ln/>
        </p:spPr>
        <p:txBody>
          <a:bodyPr wrap="square" lIns="0" tIns="0" rIns="0" bIns="0" rtlCol="0" anchor="ctr"/>
          <a:lstStyle/>
          <a:p>
            <a:pPr marL="0" indent="0">
              <a:buNone/>
            </a:pPr>
            <a:r>
              <a:rPr lang="en-US" sz="1600" dirty="0">
                <a:solidFill>
                  <a:srgbClr val="D8CCEA"/>
                </a:solidFill>
                <a:latin typeface="Calibri" pitchFamily="34" charset="0"/>
                <a:ea typeface="Calibri" pitchFamily="34" charset="-122"/>
                <a:cs typeface="Calibri" pitchFamily="34" charset="-120"/>
              </a:rPr>
              <a:t>A Finance Domain Case Study — Loan Default Prediction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1. DATASET</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400" b="1" dirty="0">
                <a:solidFill>
                  <a:srgbClr val="2B1B3D"/>
                </a:solidFill>
                <a:latin typeface="Cambria" pitchFamily="34" charset="0"/>
                <a:ea typeface="Cambria" pitchFamily="34" charset="-122"/>
                <a:cs typeface="Cambria" pitchFamily="34" charset="-120"/>
              </a:rPr>
              <a:t>Loan Default Prediction — Finance Domain</a:t>
            </a:r>
            <a:endParaRPr lang="en-US" sz="2400" dirty="0"/>
          </a:p>
        </p:txBody>
      </p:sp>
      <p:sp>
        <p:nvSpPr>
          <p:cNvPr id="4" name="Text 2"/>
          <p:cNvSpPr/>
          <p:nvPr/>
        </p:nvSpPr>
        <p:spPr>
          <a:xfrm>
            <a:off x="548640" y="1234440"/>
            <a:ext cx="10789920" cy="365760"/>
          </a:xfrm>
          <a:prstGeom prst="rect">
            <a:avLst/>
          </a:prstGeom>
          <a:noFill/>
          <a:ln/>
        </p:spPr>
        <p:txBody>
          <a:bodyPr wrap="square" lIns="0" tIns="0" rIns="0" bIns="0" rtlCol="0" anchor="ctr"/>
          <a:lstStyle/>
          <a:p>
            <a:pPr marL="0" indent="0">
              <a:buNone/>
            </a:pPr>
            <a:r>
              <a:rPr lang="en-US" sz="1300" dirty="0">
                <a:solidFill>
                  <a:srgbClr val="8A7F99"/>
                </a:solidFill>
                <a:latin typeface="Calibri" pitchFamily="34" charset="0"/>
                <a:ea typeface="Calibri" pitchFamily="34" charset="-122"/>
                <a:cs typeface="Calibri" pitchFamily="34" charset="-120"/>
              </a:rPr>
              <a:t>4,000 applicants  •  9 features  •  Default rate: 17.6%</a:t>
            </a:r>
            <a:endParaRPr lang="en-US" sz="1300" dirty="0"/>
          </a:p>
        </p:txBody>
      </p:sp>
      <p:pic>
        <p:nvPicPr>
          <p:cNvPr id="5" name="Image 0" descr="diagrams/class_balance.png"/>
          <p:cNvPicPr>
            <a:picLocks noChangeAspect="1"/>
          </p:cNvPicPr>
          <p:nvPr/>
        </p:nvPicPr>
        <p:blipFill>
          <a:blip r:embed="rId3"/>
          <a:stretch>
            <a:fillRect/>
          </a:stretch>
        </p:blipFill>
        <p:spPr>
          <a:xfrm>
            <a:off x="3566160" y="1737360"/>
            <a:ext cx="5029200" cy="4206240"/>
          </a:xfrm>
          <a:prstGeom prst="rect">
            <a:avLst/>
          </a:prstGeom>
        </p:spPr>
      </p:pic>
      <p:sp>
        <p:nvSpPr>
          <p:cNvPr id="6" name="Text 3"/>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1B3D"/>
        </a:solidFill>
        <a:effectLst/>
      </p:bgPr>
    </p:bg>
    <p:spTree>
      <p:nvGrpSpPr>
        <p:cNvPr id="1" name=""/>
        <p:cNvGrpSpPr/>
        <p:nvPr/>
      </p:nvGrpSpPr>
      <p:grpSpPr>
        <a:xfrm>
          <a:off x="0" y="0"/>
          <a:ext cx="0" cy="0"/>
          <a:chOff x="0" y="0"/>
          <a:chExt cx="0" cy="0"/>
        </a:xfrm>
      </p:grpSpPr>
      <p:sp>
        <p:nvSpPr>
          <p:cNvPr id="2" name="Text 0"/>
          <p:cNvSpPr/>
          <p:nvPr/>
        </p:nvSpPr>
        <p:spPr>
          <a:xfrm>
            <a:off x="822960" y="2194560"/>
            <a:ext cx="2743200" cy="1371600"/>
          </a:xfrm>
          <a:prstGeom prst="rect">
            <a:avLst/>
          </a:prstGeom>
          <a:noFill/>
          <a:ln/>
        </p:spPr>
        <p:txBody>
          <a:bodyPr wrap="square" lIns="0" tIns="0" rIns="0" bIns="0" rtlCol="0" anchor="ctr"/>
          <a:lstStyle/>
          <a:p>
            <a:pPr marL="0" indent="0">
              <a:buNone/>
            </a:pPr>
            <a:r>
              <a:rPr lang="en-US" sz="9000" b="1" dirty="0">
                <a:solidFill>
                  <a:srgbClr val="6B4E9E"/>
                </a:solidFill>
                <a:latin typeface="Cambria" pitchFamily="34" charset="0"/>
                <a:ea typeface="Cambria" pitchFamily="34" charset="-122"/>
                <a:cs typeface="Cambria" pitchFamily="34" charset="-120"/>
              </a:rPr>
              <a:t>2</a:t>
            </a:r>
            <a:endParaRPr lang="en-US" sz="9000" dirty="0"/>
          </a:p>
        </p:txBody>
      </p:sp>
      <p:sp>
        <p:nvSpPr>
          <p:cNvPr id="3" name="Text 1"/>
          <p:cNvSpPr/>
          <p:nvPr/>
        </p:nvSpPr>
        <p:spPr>
          <a:xfrm>
            <a:off x="822960" y="3383280"/>
            <a:ext cx="8229600" cy="1371600"/>
          </a:xfrm>
          <a:prstGeom prst="rect">
            <a:avLst/>
          </a:prstGeom>
          <a:noFill/>
          <a:ln/>
        </p:spPr>
        <p:txBody>
          <a:bodyPr wrap="square" lIns="0" tIns="0" rIns="0" bIns="0"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Data Validation</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Techniques</a:t>
            </a:r>
            <a:endParaRPr lang="en-US" sz="3400" dirty="0"/>
          </a:p>
        </p:txBody>
      </p:sp>
      <p:sp>
        <p:nvSpPr>
          <p:cNvPr id="4" name="Text 2"/>
          <p:cNvSpPr/>
          <p:nvPr/>
        </p:nvSpPr>
        <p:spPr>
          <a:xfrm>
            <a:off x="822960" y="4709160"/>
            <a:ext cx="8229600" cy="457200"/>
          </a:xfrm>
          <a:prstGeom prst="rect">
            <a:avLst/>
          </a:prstGeom>
          <a:noFill/>
          <a:ln/>
        </p:spPr>
        <p:txBody>
          <a:bodyPr wrap="square" lIns="0" tIns="0" rIns="0" bIns="0" rtlCol="0" anchor="ctr"/>
          <a:lstStyle/>
          <a:p>
            <a:pPr marL="0" indent="0">
              <a:buNone/>
            </a:pPr>
            <a:r>
              <a:rPr lang="en-US" sz="1500" dirty="0">
                <a:solidFill>
                  <a:srgbClr val="E8734A"/>
                </a:solidFill>
                <a:latin typeface="Calibri" pitchFamily="34" charset="0"/>
                <a:ea typeface="Calibri" pitchFamily="34" charset="-122"/>
                <a:cs typeface="Calibri" pitchFamily="34" charset="-120"/>
              </a:rPr>
              <a:t>Train/Test Split  vs.  TimeSeriesSplit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2.1 DATA VALIDATION</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600" b="1" dirty="0">
                <a:solidFill>
                  <a:srgbClr val="2B1B3D"/>
                </a:solidFill>
                <a:latin typeface="Cambria" pitchFamily="34" charset="0"/>
                <a:ea typeface="Cambria" pitchFamily="34" charset="-122"/>
                <a:cs typeface="Cambria" pitchFamily="34" charset="-120"/>
              </a:rPr>
              <a:t>What Is Train/Test Split?</a:t>
            </a:r>
            <a:endParaRPr lang="en-US" sz="2600" dirty="0"/>
          </a:p>
        </p:txBody>
      </p:sp>
      <p:sp>
        <p:nvSpPr>
          <p:cNvPr id="4" name="Shape 2"/>
          <p:cNvSpPr/>
          <p:nvPr/>
        </p:nvSpPr>
        <p:spPr>
          <a:xfrm>
            <a:off x="548640" y="1417320"/>
            <a:ext cx="5394960" cy="1280160"/>
          </a:xfrm>
          <a:prstGeom prst="roundRect">
            <a:avLst>
              <a:gd name="adj" fmla="val 7143"/>
            </a:avLst>
          </a:prstGeom>
          <a:solidFill>
            <a:srgbClr val="2B1B3D"/>
          </a:solidFill>
          <a:ln/>
        </p:spPr>
      </p:sp>
      <p:sp>
        <p:nvSpPr>
          <p:cNvPr id="5" name="Text 3"/>
          <p:cNvSpPr/>
          <p:nvPr/>
        </p:nvSpPr>
        <p:spPr>
          <a:xfrm>
            <a:off x="777240" y="1554480"/>
            <a:ext cx="4937760" cy="100584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The simplest validation method: split the dataset ONCE into a training portion (e.g. 80%) and a test portion (e.g. 20%). Train on one, evaluate on the other.</a:t>
            </a:r>
            <a:endParaRPr lang="en-US" sz="1250" dirty="0"/>
          </a:p>
        </p:txBody>
      </p:sp>
      <p:sp>
        <p:nvSpPr>
          <p:cNvPr id="6" name="Text 4"/>
          <p:cNvSpPr/>
          <p:nvPr/>
        </p:nvSpPr>
        <p:spPr>
          <a:xfrm>
            <a:off x="533401" y="2834640"/>
            <a:ext cx="5394960" cy="3200400"/>
          </a:xfrm>
          <a:prstGeom prst="rect">
            <a:avLst/>
          </a:prstGeom>
          <a:noFill/>
          <a:ln/>
        </p:spPr>
        <p:txBody>
          <a:bodyPr wrap="square" lIns="0" tIns="0" rIns="0" bIns="0" rtlCol="0" anchor="t"/>
          <a:lstStyle/>
          <a:p>
            <a:pPr marL="342900" indent="-342900">
              <a:spcAft>
                <a:spcPts val="1100"/>
              </a:spcAft>
              <a:buSzPct val="100000"/>
              <a:buChar char="▪"/>
            </a:pPr>
            <a:r>
              <a:rPr lang="en-US" sz="1200" dirty="0">
                <a:solidFill>
                  <a:srgbClr val="241C33"/>
                </a:solidFill>
              </a:rPr>
              <a:t>Fast and easy to implement</a:t>
            </a:r>
            <a:endParaRPr lang="en-US" sz="1200" dirty="0"/>
          </a:p>
          <a:p>
            <a:pPr marL="342900" indent="-342900">
              <a:spcAft>
                <a:spcPts val="1100"/>
              </a:spcAft>
              <a:buSzPct val="100000"/>
              <a:buChar char="▪"/>
            </a:pPr>
            <a:r>
              <a:rPr lang="en-US" sz="1200" dirty="0">
                <a:solidFill>
                  <a:srgbClr val="241C33"/>
                </a:solidFill>
              </a:rPr>
              <a:t>Only gives ONE accuracy estimate — based on whichever rows randomly land in the test set</a:t>
            </a:r>
            <a:endParaRPr lang="en-US" sz="1200" dirty="0"/>
          </a:p>
          <a:p>
            <a:pPr marL="342900" indent="-342900">
              <a:spcAft>
                <a:spcPts val="1100"/>
              </a:spcAft>
              <a:buSzPct val="100000"/>
              <a:buChar char="▪"/>
            </a:pPr>
            <a:r>
              <a:rPr lang="en-US" sz="1200" dirty="0">
                <a:solidFill>
                  <a:srgbClr val="241C33"/>
                </a:solidFill>
              </a:rPr>
              <a:t>Risk: a "lucky" or "unlucky" split can make a model look better or worse than it really is</a:t>
            </a:r>
          </a:p>
        </p:txBody>
      </p:sp>
      <p:sp>
        <p:nvSpPr>
          <p:cNvPr id="7" name="Shape 5"/>
          <p:cNvSpPr/>
          <p:nvPr/>
        </p:nvSpPr>
        <p:spPr>
          <a:xfrm>
            <a:off x="6263640" y="1417320"/>
            <a:ext cx="5349240" cy="4617720"/>
          </a:xfrm>
          <a:prstGeom prst="roundRect">
            <a:avLst>
              <a:gd name="adj" fmla="val 1980"/>
            </a:avLst>
          </a:prstGeom>
          <a:solidFill>
            <a:srgbClr val="F6F3FA"/>
          </a:solidFill>
          <a:ln/>
        </p:spPr>
      </p:sp>
      <p:pic>
        <p:nvPicPr>
          <p:cNvPr id="8" name="Image 0" descr="diagrams/holdout_instability.png"/>
          <p:cNvPicPr>
            <a:picLocks noChangeAspect="1"/>
          </p:cNvPicPr>
          <p:nvPr/>
        </p:nvPicPr>
        <p:blipFill>
          <a:blip r:embed="rId3"/>
          <a:stretch>
            <a:fillRect/>
          </a:stretch>
        </p:blipFill>
        <p:spPr>
          <a:xfrm>
            <a:off x="6492240" y="1645920"/>
            <a:ext cx="4892040" cy="4160520"/>
          </a:xfrm>
          <a:prstGeom prst="rect">
            <a:avLst/>
          </a:prstGeom>
        </p:spPr>
      </p:pic>
      <p:sp>
        <p:nvSpPr>
          <p:cNvPr id="9" name="Text 6"/>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2.2 DATA VALIDATION</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600" b="1" dirty="0">
                <a:solidFill>
                  <a:srgbClr val="2B1B3D"/>
                </a:solidFill>
                <a:latin typeface="Cambria" pitchFamily="34" charset="0"/>
                <a:ea typeface="Cambria" pitchFamily="34" charset="-122"/>
                <a:cs typeface="Cambria" pitchFamily="34" charset="-120"/>
              </a:rPr>
              <a:t>What Is TimeSeriesSplit?</a:t>
            </a:r>
            <a:endParaRPr lang="en-US" sz="2600" dirty="0"/>
          </a:p>
        </p:txBody>
      </p:sp>
      <p:sp>
        <p:nvSpPr>
          <p:cNvPr id="4" name="Shape 2"/>
          <p:cNvSpPr/>
          <p:nvPr/>
        </p:nvSpPr>
        <p:spPr>
          <a:xfrm>
            <a:off x="548640" y="1417320"/>
            <a:ext cx="5394960" cy="1280160"/>
          </a:xfrm>
          <a:prstGeom prst="roundRect">
            <a:avLst>
              <a:gd name="adj" fmla="val 7143"/>
            </a:avLst>
          </a:prstGeom>
          <a:solidFill>
            <a:srgbClr val="2B1B3D"/>
          </a:solidFill>
          <a:ln/>
        </p:spPr>
      </p:sp>
      <p:sp>
        <p:nvSpPr>
          <p:cNvPr id="5" name="Text 3"/>
          <p:cNvSpPr/>
          <p:nvPr/>
        </p:nvSpPr>
        <p:spPr>
          <a:xfrm>
            <a:off x="777240" y="1554480"/>
            <a:ext cx="4937760" cy="1005840"/>
          </a:xfrm>
          <a:prstGeom prst="rect">
            <a:avLst/>
          </a:prstGeom>
          <a:noFill/>
          <a:ln/>
        </p:spPr>
        <p:txBody>
          <a:bodyPr wrap="square" lIns="0" tIns="0" rIns="0" bIns="0"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A validation technique made for chronological data. Instead of one random split, it creates multiple splits where the training window grows over time and the test set is always the NEXT chunk of future data.</a:t>
            </a:r>
            <a:endParaRPr lang="en-US" sz="1250" dirty="0"/>
          </a:p>
        </p:txBody>
      </p:sp>
      <p:sp>
        <p:nvSpPr>
          <p:cNvPr id="6" name="Text 4"/>
          <p:cNvSpPr/>
          <p:nvPr/>
        </p:nvSpPr>
        <p:spPr>
          <a:xfrm>
            <a:off x="548640" y="2880360"/>
            <a:ext cx="5394960" cy="3200400"/>
          </a:xfrm>
          <a:prstGeom prst="rect">
            <a:avLst/>
          </a:prstGeom>
          <a:noFill/>
          <a:ln/>
        </p:spPr>
        <p:txBody>
          <a:bodyPr wrap="square" lIns="0" tIns="0" rIns="0" bIns="0" rtlCol="0" anchor="t"/>
          <a:lstStyle/>
          <a:p>
            <a:pPr marL="342900" indent="-342900">
              <a:spcAft>
                <a:spcPts val="1100"/>
              </a:spcAft>
              <a:buSzPct val="100000"/>
              <a:buChar char="▪"/>
            </a:pPr>
            <a:r>
              <a:rPr lang="en-US" sz="1200" dirty="0">
                <a:solidFill>
                  <a:srgbClr val="241C33"/>
                </a:solidFill>
              </a:rPr>
              <a:t>Never trains on future data to predict the past — avoids data leakage</a:t>
            </a:r>
            <a:endParaRPr lang="en-US" sz="1200" dirty="0"/>
          </a:p>
          <a:p>
            <a:pPr marL="342900" indent="-342900">
              <a:spcAft>
                <a:spcPts val="1100"/>
              </a:spcAft>
              <a:buSzPct val="100000"/>
              <a:buChar char="▪"/>
            </a:pPr>
            <a:r>
              <a:rPr lang="en-US" sz="1200" dirty="0">
                <a:solidFill>
                  <a:srgbClr val="241C33"/>
                </a:solidFill>
              </a:rPr>
              <a:t>Mimics how the model will actually be used: trained on history, applied to new applications</a:t>
            </a:r>
            <a:endParaRPr lang="en-US" sz="1200" dirty="0"/>
          </a:p>
          <a:p>
            <a:pPr marL="342900" indent="-342900">
              <a:spcAft>
                <a:spcPts val="1100"/>
              </a:spcAft>
              <a:buSzPct val="100000"/>
              <a:buChar char="▪"/>
            </a:pPr>
            <a:r>
              <a:rPr lang="en-US" sz="1200" dirty="0">
                <a:solidFill>
                  <a:srgbClr val="241C33"/>
                </a:solidFill>
              </a:rPr>
              <a:t>Produces multiple accuracy scores (one per fold) instead of just one</a:t>
            </a:r>
            <a:endParaRPr lang="en-US" sz="1200" dirty="0"/>
          </a:p>
          <a:p>
            <a:pPr marL="342900" indent="-342900">
              <a:spcAft>
                <a:spcPts val="1100"/>
              </a:spcAft>
              <a:buSzPct val="100000"/>
              <a:buChar char="▪"/>
            </a:pPr>
            <a:r>
              <a:rPr lang="en-US" sz="1200" dirty="0">
                <a:solidFill>
                  <a:srgbClr val="241C33"/>
                </a:solidFill>
              </a:rPr>
              <a:t>Essential for finance data with a timestamp/application order</a:t>
            </a:r>
            <a:endParaRPr lang="en-US" sz="1200" dirty="0"/>
          </a:p>
        </p:txBody>
      </p:sp>
      <p:sp>
        <p:nvSpPr>
          <p:cNvPr id="7" name="Shape 5"/>
          <p:cNvSpPr/>
          <p:nvPr/>
        </p:nvSpPr>
        <p:spPr>
          <a:xfrm>
            <a:off x="6263640" y="1417320"/>
            <a:ext cx="5349240" cy="4617720"/>
          </a:xfrm>
          <a:prstGeom prst="roundRect">
            <a:avLst>
              <a:gd name="adj" fmla="val 1980"/>
            </a:avLst>
          </a:prstGeom>
          <a:solidFill>
            <a:srgbClr val="F6F3FA"/>
          </a:solidFill>
          <a:ln/>
        </p:spPr>
      </p:sp>
      <p:pic>
        <p:nvPicPr>
          <p:cNvPr id="8" name="Image 0" descr="diagrams/timeseries_split.png"/>
          <p:cNvPicPr>
            <a:picLocks noChangeAspect="1"/>
          </p:cNvPicPr>
          <p:nvPr/>
        </p:nvPicPr>
        <p:blipFill>
          <a:blip r:embed="rId3"/>
          <a:stretch>
            <a:fillRect/>
          </a:stretch>
        </p:blipFill>
        <p:spPr>
          <a:xfrm>
            <a:off x="6492240" y="1645920"/>
            <a:ext cx="4892040" cy="4160520"/>
          </a:xfrm>
          <a:prstGeom prst="rect">
            <a:avLst/>
          </a:prstGeom>
        </p:spPr>
      </p:pic>
      <p:sp>
        <p:nvSpPr>
          <p:cNvPr id="9" name="Text 6"/>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2.3 COMPARING VALIDATION STRATEGIES</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400" b="1" dirty="0">
                <a:solidFill>
                  <a:srgbClr val="2B1B3D"/>
                </a:solidFill>
                <a:latin typeface="Cambria" pitchFamily="34" charset="0"/>
                <a:ea typeface="Cambria" pitchFamily="34" charset="-122"/>
                <a:cs typeface="Cambria" pitchFamily="34" charset="-120"/>
              </a:rPr>
              <a:t>Which Gives a More Reliable Estimate?</a:t>
            </a:r>
            <a:endParaRPr lang="en-US" sz="2400" dirty="0"/>
          </a:p>
        </p:txBody>
      </p:sp>
      <p:pic>
        <p:nvPicPr>
          <p:cNvPr id="4" name="Image 0" descr="diagrams/validation_comparison.png"/>
          <p:cNvPicPr>
            <a:picLocks noChangeAspect="1"/>
          </p:cNvPicPr>
          <p:nvPr/>
        </p:nvPicPr>
        <p:blipFill>
          <a:blip r:embed="rId3"/>
          <a:stretch>
            <a:fillRect/>
          </a:stretch>
        </p:blipFill>
        <p:spPr>
          <a:xfrm>
            <a:off x="2926080" y="1417320"/>
            <a:ext cx="6309360" cy="4617720"/>
          </a:xfrm>
          <a:prstGeom prst="rect">
            <a:avLst/>
          </a:prstGeom>
        </p:spPr>
      </p:pic>
      <p:sp>
        <p:nvSpPr>
          <p:cNvPr id="5" name="Text 2"/>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2B1B3D"/>
        </a:solidFill>
        <a:effectLst/>
      </p:bgPr>
    </p:bg>
    <p:spTree>
      <p:nvGrpSpPr>
        <p:cNvPr id="1" name=""/>
        <p:cNvGrpSpPr/>
        <p:nvPr/>
      </p:nvGrpSpPr>
      <p:grpSpPr>
        <a:xfrm>
          <a:off x="0" y="0"/>
          <a:ext cx="0" cy="0"/>
          <a:chOff x="0" y="0"/>
          <a:chExt cx="0" cy="0"/>
        </a:xfrm>
      </p:grpSpPr>
      <p:sp>
        <p:nvSpPr>
          <p:cNvPr id="2" name="Text 0"/>
          <p:cNvSpPr/>
          <p:nvPr/>
        </p:nvSpPr>
        <p:spPr>
          <a:xfrm>
            <a:off x="822960" y="2194560"/>
            <a:ext cx="2743200" cy="1371600"/>
          </a:xfrm>
          <a:prstGeom prst="rect">
            <a:avLst/>
          </a:prstGeom>
          <a:noFill/>
          <a:ln/>
        </p:spPr>
        <p:txBody>
          <a:bodyPr wrap="square" lIns="0" tIns="0" rIns="0" bIns="0" rtlCol="0" anchor="ctr"/>
          <a:lstStyle/>
          <a:p>
            <a:pPr marL="0" indent="0">
              <a:buNone/>
            </a:pPr>
            <a:r>
              <a:rPr lang="en-US" sz="9000" b="1" dirty="0">
                <a:solidFill>
                  <a:srgbClr val="E8734A"/>
                </a:solidFill>
                <a:latin typeface="Cambria" pitchFamily="34" charset="0"/>
                <a:ea typeface="Cambria" pitchFamily="34" charset="-122"/>
                <a:cs typeface="Cambria" pitchFamily="34" charset="-120"/>
              </a:rPr>
              <a:t>3</a:t>
            </a:r>
            <a:endParaRPr lang="en-US" sz="9000" dirty="0"/>
          </a:p>
        </p:txBody>
      </p:sp>
      <p:sp>
        <p:nvSpPr>
          <p:cNvPr id="3" name="Text 1"/>
          <p:cNvSpPr/>
          <p:nvPr/>
        </p:nvSpPr>
        <p:spPr>
          <a:xfrm>
            <a:off x="822960" y="3383280"/>
            <a:ext cx="8229600" cy="1371600"/>
          </a:xfrm>
          <a:prstGeom prst="rect">
            <a:avLst/>
          </a:prstGeom>
          <a:noFill/>
          <a:ln/>
        </p:spPr>
        <p:txBody>
          <a:bodyPr wrap="square" lIns="0" tIns="0" rIns="0" bIns="0"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Overfitting vs.</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Underfitting</a:t>
            </a:r>
            <a:endParaRPr lang="en-US" sz="3400" dirty="0"/>
          </a:p>
        </p:txBody>
      </p:sp>
      <p:sp>
        <p:nvSpPr>
          <p:cNvPr id="4" name="Text 2"/>
          <p:cNvSpPr/>
          <p:nvPr/>
        </p:nvSpPr>
        <p:spPr>
          <a:xfrm>
            <a:off x="822960" y="4709160"/>
            <a:ext cx="8229600" cy="457200"/>
          </a:xfrm>
          <a:prstGeom prst="rect">
            <a:avLst/>
          </a:prstGeom>
          <a:noFill/>
          <a:ln/>
        </p:spPr>
        <p:txBody>
          <a:bodyPr wrap="square" lIns="0" tIns="0" rIns="0" bIns="0" rtlCol="0" anchor="ctr"/>
          <a:lstStyle/>
          <a:p>
            <a:pPr marL="0" indent="0">
              <a:buNone/>
            </a:pPr>
            <a:r>
              <a:rPr lang="en-US" sz="1500" dirty="0">
                <a:solidFill>
                  <a:srgbClr val="E8734A"/>
                </a:solidFill>
                <a:latin typeface="Calibri" pitchFamily="34" charset="0"/>
                <a:ea typeface="Calibri" pitchFamily="34" charset="-122"/>
                <a:cs typeface="Calibri" pitchFamily="34" charset="-120"/>
              </a:rPr>
              <a:t>Finding the Right Model Complexity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3. MODEL FIT</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800" b="1" dirty="0">
                <a:solidFill>
                  <a:srgbClr val="2B1B3D"/>
                </a:solidFill>
                <a:latin typeface="Cambria" pitchFamily="34" charset="0"/>
                <a:ea typeface="Cambria" pitchFamily="34" charset="-122"/>
                <a:cs typeface="Cambria" pitchFamily="34" charset="-120"/>
              </a:rPr>
              <a:t>Underfitting</a:t>
            </a:r>
            <a:endParaRPr lang="en-US" sz="2800" dirty="0"/>
          </a:p>
        </p:txBody>
      </p:sp>
      <p:sp>
        <p:nvSpPr>
          <p:cNvPr id="4" name="Shape 2"/>
          <p:cNvSpPr/>
          <p:nvPr/>
        </p:nvSpPr>
        <p:spPr>
          <a:xfrm>
            <a:off x="548640" y="1463040"/>
            <a:ext cx="5394960" cy="1188720"/>
          </a:xfrm>
          <a:prstGeom prst="roundRect">
            <a:avLst>
              <a:gd name="adj" fmla="val 7692"/>
            </a:avLst>
          </a:prstGeom>
          <a:solidFill>
            <a:srgbClr val="F0EAF8"/>
          </a:solidFill>
          <a:ln/>
        </p:spPr>
      </p:sp>
      <p:sp>
        <p:nvSpPr>
          <p:cNvPr id="5" name="Text 3"/>
          <p:cNvSpPr/>
          <p:nvPr/>
        </p:nvSpPr>
        <p:spPr>
          <a:xfrm>
            <a:off x="777240" y="1600200"/>
            <a:ext cx="4937760" cy="914400"/>
          </a:xfrm>
          <a:prstGeom prst="rect">
            <a:avLst/>
          </a:prstGeom>
          <a:noFill/>
          <a:ln/>
        </p:spPr>
        <p:txBody>
          <a:bodyPr wrap="square" lIns="0" tIns="0" rIns="0" bIns="0" rtlCol="0" anchor="ctr"/>
          <a:lstStyle/>
          <a:p>
            <a:pPr marL="0" indent="0">
              <a:lnSpc>
                <a:spcPct val="130000"/>
              </a:lnSpc>
              <a:buNone/>
            </a:pPr>
            <a:r>
              <a:rPr lang="en-US" sz="1300" b="1" dirty="0">
                <a:solidFill>
                  <a:srgbClr val="6B4E9E"/>
                </a:solidFill>
                <a:latin typeface="Calibri" pitchFamily="34" charset="0"/>
                <a:ea typeface="Calibri" pitchFamily="34" charset="-122"/>
                <a:cs typeface="Calibri" pitchFamily="34" charset="-120"/>
              </a:rPr>
              <a:t>The model is too SIMPLE to learn the real pattern in the data.</a:t>
            </a:r>
            <a:endParaRPr lang="en-US" sz="1300" dirty="0"/>
          </a:p>
        </p:txBody>
      </p:sp>
      <p:sp>
        <p:nvSpPr>
          <p:cNvPr id="6" name="Text 4"/>
          <p:cNvSpPr/>
          <p:nvPr/>
        </p:nvSpPr>
        <p:spPr>
          <a:xfrm>
            <a:off x="548640" y="2834640"/>
            <a:ext cx="5394960" cy="228600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241C33"/>
                </a:solidFill>
              </a:rPr>
              <a:t>Signature: LOW accuracy on BOTH training and test data</a:t>
            </a:r>
            <a:endParaRPr lang="en-US" sz="1250" dirty="0"/>
          </a:p>
          <a:p>
            <a:pPr marL="342900" indent="-342900">
              <a:spcAft>
                <a:spcPts val="1200"/>
              </a:spcAft>
              <a:buSzPct val="100000"/>
              <a:buChar char="▪"/>
            </a:pPr>
            <a:r>
              <a:rPr lang="en-US" sz="1250" dirty="0">
                <a:solidFill>
                  <a:srgbClr val="241C33"/>
                </a:solidFill>
              </a:rPr>
              <a:t>Cause: model too simple (e.g. shallow tree, too few features)</a:t>
            </a:r>
            <a:endParaRPr lang="en-US" sz="1250" dirty="0"/>
          </a:p>
          <a:p>
            <a:pPr marL="342900" indent="-342900">
              <a:spcAft>
                <a:spcPts val="1200"/>
              </a:spcAft>
              <a:buSzPct val="100000"/>
              <a:buChar char="▪"/>
            </a:pPr>
            <a:r>
              <a:rPr lang="en-US" sz="1250" dirty="0">
                <a:solidFill>
                  <a:srgbClr val="241C33"/>
                </a:solidFill>
              </a:rPr>
              <a:t>Finance example: a depth=1 tree misses real credit-risk patterns</a:t>
            </a:r>
            <a:endParaRPr lang="en-US" sz="1250" dirty="0"/>
          </a:p>
        </p:txBody>
      </p:sp>
      <p:sp>
        <p:nvSpPr>
          <p:cNvPr id="7" name="Shape 5"/>
          <p:cNvSpPr/>
          <p:nvPr/>
        </p:nvSpPr>
        <p:spPr>
          <a:xfrm>
            <a:off x="6263640" y="1463040"/>
            <a:ext cx="5349240" cy="4572000"/>
          </a:xfrm>
          <a:prstGeom prst="roundRect">
            <a:avLst>
              <a:gd name="adj" fmla="val 2000"/>
            </a:avLst>
          </a:prstGeom>
          <a:solidFill>
            <a:srgbClr val="F6F3FA"/>
          </a:solidFill>
          <a:ln/>
        </p:spPr>
      </p:sp>
      <p:pic>
        <p:nvPicPr>
          <p:cNvPr id="8" name="Image 0" descr="diagrams/validation_curve.png"/>
          <p:cNvPicPr>
            <a:picLocks noChangeAspect="1"/>
          </p:cNvPicPr>
          <p:nvPr/>
        </p:nvPicPr>
        <p:blipFill>
          <a:blip r:embed="rId3"/>
          <a:stretch>
            <a:fillRect/>
          </a:stretch>
        </p:blipFill>
        <p:spPr>
          <a:xfrm>
            <a:off x="6382512" y="1600200"/>
            <a:ext cx="5120640" cy="4343400"/>
          </a:xfrm>
          <a:prstGeom prst="rect">
            <a:avLst/>
          </a:prstGeom>
        </p:spPr>
      </p:pic>
      <p:sp>
        <p:nvSpPr>
          <p:cNvPr id="9" name="Text 6"/>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3. MODEL FIT</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800" b="1" dirty="0">
                <a:solidFill>
                  <a:srgbClr val="2B1B3D"/>
                </a:solidFill>
                <a:latin typeface="Cambria" pitchFamily="34" charset="0"/>
                <a:ea typeface="Cambria" pitchFamily="34" charset="-122"/>
                <a:cs typeface="Cambria" pitchFamily="34" charset="-120"/>
              </a:rPr>
              <a:t>Overfitting</a:t>
            </a:r>
            <a:endParaRPr lang="en-US" sz="2800" dirty="0"/>
          </a:p>
        </p:txBody>
      </p:sp>
      <p:sp>
        <p:nvSpPr>
          <p:cNvPr id="4" name="Shape 2"/>
          <p:cNvSpPr/>
          <p:nvPr/>
        </p:nvSpPr>
        <p:spPr>
          <a:xfrm>
            <a:off x="548640" y="1463040"/>
            <a:ext cx="5394960" cy="1188720"/>
          </a:xfrm>
          <a:prstGeom prst="roundRect">
            <a:avLst>
              <a:gd name="adj" fmla="val 7692"/>
            </a:avLst>
          </a:prstGeom>
          <a:solidFill>
            <a:srgbClr val="FBEEE7"/>
          </a:solidFill>
          <a:ln/>
        </p:spPr>
      </p:sp>
      <p:sp>
        <p:nvSpPr>
          <p:cNvPr id="5" name="Text 3"/>
          <p:cNvSpPr/>
          <p:nvPr/>
        </p:nvSpPr>
        <p:spPr>
          <a:xfrm>
            <a:off x="777240" y="1600200"/>
            <a:ext cx="4937760" cy="914400"/>
          </a:xfrm>
          <a:prstGeom prst="rect">
            <a:avLst/>
          </a:prstGeom>
          <a:noFill/>
          <a:ln/>
        </p:spPr>
        <p:txBody>
          <a:bodyPr wrap="square" lIns="0" tIns="0" rIns="0" bIns="0" rtlCol="0" anchor="ctr"/>
          <a:lstStyle/>
          <a:p>
            <a:pPr marL="0" indent="0">
              <a:lnSpc>
                <a:spcPct val="130000"/>
              </a:lnSpc>
              <a:buNone/>
            </a:pPr>
            <a:r>
              <a:rPr lang="en-US" sz="1300" b="1" dirty="0">
                <a:solidFill>
                  <a:srgbClr val="E8734A"/>
                </a:solidFill>
                <a:latin typeface="Calibri" pitchFamily="34" charset="0"/>
                <a:ea typeface="Calibri" pitchFamily="34" charset="-122"/>
                <a:cs typeface="Calibri" pitchFamily="34" charset="-120"/>
              </a:rPr>
              <a:t>The model is too COMPLEX and starts memorizing noise instead of the true pattern.</a:t>
            </a:r>
            <a:endParaRPr lang="en-US" sz="1300" dirty="0"/>
          </a:p>
        </p:txBody>
      </p:sp>
      <p:sp>
        <p:nvSpPr>
          <p:cNvPr id="6" name="Text 4"/>
          <p:cNvSpPr/>
          <p:nvPr/>
        </p:nvSpPr>
        <p:spPr>
          <a:xfrm>
            <a:off x="548640" y="2834640"/>
            <a:ext cx="5394960" cy="228600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241C33"/>
                </a:solidFill>
                <a:latin typeface="Times New Roman" panose="02020603050405020304" pitchFamily="18" charset="0"/>
                <a:cs typeface="Times New Roman" panose="02020603050405020304" pitchFamily="18" charset="0"/>
              </a:rPr>
              <a:t>Signature: HIGH training accuracy but LOW test accuracy (a big gap)</a:t>
            </a:r>
            <a:endParaRPr lang="en-US" sz="125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250" dirty="0">
                <a:solidFill>
                  <a:srgbClr val="241C33"/>
                </a:solidFill>
                <a:latin typeface="Times New Roman" panose="02020603050405020304" pitchFamily="18" charset="0"/>
                <a:cs typeface="Times New Roman" panose="02020603050405020304" pitchFamily="18" charset="0"/>
              </a:rPr>
              <a:t>Cause: model too complex (very deep tree, too many features)</a:t>
            </a:r>
            <a:endParaRPr lang="en-US" sz="1250" dirty="0">
              <a:latin typeface="Times New Roman" panose="02020603050405020304" pitchFamily="18" charset="0"/>
              <a:cs typeface="Times New Roman" panose="02020603050405020304" pitchFamily="18" charset="0"/>
            </a:endParaRPr>
          </a:p>
          <a:p>
            <a:pPr marL="342900" indent="-342900">
              <a:spcAft>
                <a:spcPts val="1200"/>
              </a:spcAft>
              <a:buSzPct val="100000"/>
              <a:buChar char="▪"/>
            </a:pPr>
            <a:r>
              <a:rPr lang="en-US" sz="1250" dirty="0">
                <a:solidFill>
                  <a:srgbClr val="241C33"/>
                </a:solidFill>
                <a:latin typeface="Times New Roman" panose="02020603050405020304" pitchFamily="18" charset="0"/>
                <a:cs typeface="Times New Roman" panose="02020603050405020304" pitchFamily="18" charset="0"/>
              </a:rPr>
              <a:t>Finance example: a depth=20 tree perfectly memorizes past applicants but fails on new ones</a:t>
            </a:r>
            <a:endParaRPr lang="en-US" sz="1250" dirty="0">
              <a:latin typeface="Times New Roman" panose="02020603050405020304" pitchFamily="18" charset="0"/>
              <a:cs typeface="Times New Roman" panose="02020603050405020304" pitchFamily="18" charset="0"/>
            </a:endParaRPr>
          </a:p>
        </p:txBody>
      </p:sp>
      <p:sp>
        <p:nvSpPr>
          <p:cNvPr id="7" name="Shape 5"/>
          <p:cNvSpPr/>
          <p:nvPr/>
        </p:nvSpPr>
        <p:spPr>
          <a:xfrm>
            <a:off x="6263640" y="1463040"/>
            <a:ext cx="5349240" cy="4572000"/>
          </a:xfrm>
          <a:prstGeom prst="roundRect">
            <a:avLst>
              <a:gd name="adj" fmla="val 2000"/>
            </a:avLst>
          </a:prstGeom>
          <a:solidFill>
            <a:srgbClr val="F6F3FA"/>
          </a:solidFill>
          <a:ln/>
        </p:spPr>
      </p:sp>
      <p:pic>
        <p:nvPicPr>
          <p:cNvPr id="8" name="Image 0" descr="diagrams/validation_curve.png"/>
          <p:cNvPicPr>
            <a:picLocks noChangeAspect="1"/>
          </p:cNvPicPr>
          <p:nvPr/>
        </p:nvPicPr>
        <p:blipFill>
          <a:blip r:embed="rId3"/>
          <a:stretch>
            <a:fillRect/>
          </a:stretch>
        </p:blipFill>
        <p:spPr>
          <a:xfrm>
            <a:off x="6382512" y="1600200"/>
            <a:ext cx="5120640" cy="4343400"/>
          </a:xfrm>
          <a:prstGeom prst="rect">
            <a:avLst/>
          </a:prstGeom>
        </p:spPr>
      </p:pic>
      <p:sp>
        <p:nvSpPr>
          <p:cNvPr id="9" name="Text 6"/>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3.1 VALIDATION CURVE — EVIDENCE</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400" b="1" dirty="0">
                <a:solidFill>
                  <a:srgbClr val="2B1B3D"/>
                </a:solidFill>
                <a:latin typeface="Cambria" pitchFamily="34" charset="0"/>
                <a:ea typeface="Cambria" pitchFamily="34" charset="-122"/>
                <a:cs typeface="Cambria" pitchFamily="34" charset="-120"/>
              </a:rPr>
              <a:t>Decision Tree Depth vs. Accuracy</a:t>
            </a:r>
            <a:endParaRPr lang="en-US" sz="2400" dirty="0"/>
          </a:p>
        </p:txBody>
      </p:sp>
      <p:pic>
        <p:nvPicPr>
          <p:cNvPr id="4" name="Image 0" descr="diagrams/validation_curve.png"/>
          <p:cNvPicPr>
            <a:picLocks noChangeAspect="1"/>
          </p:cNvPicPr>
          <p:nvPr/>
        </p:nvPicPr>
        <p:blipFill>
          <a:blip r:embed="rId3"/>
          <a:stretch>
            <a:fillRect/>
          </a:stretch>
        </p:blipFill>
        <p:spPr>
          <a:xfrm>
            <a:off x="2468880" y="1371600"/>
            <a:ext cx="7315200" cy="4617720"/>
          </a:xfrm>
          <a:prstGeom prst="rect">
            <a:avLst/>
          </a:prstGeom>
        </p:spPr>
      </p:pic>
      <p:sp>
        <p:nvSpPr>
          <p:cNvPr id="5" name="Text 2"/>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320040"/>
          </a:xfrm>
          <a:prstGeom prst="rect">
            <a:avLst/>
          </a:prstGeom>
          <a:noFill/>
          <a:ln/>
        </p:spPr>
        <p:txBody>
          <a:bodyPr wrap="square" lIns="0" tIns="0" rIns="0" bIns="0" rtlCol="0" anchor="ctr"/>
          <a:lstStyle/>
          <a:p>
            <a:pPr marL="0" indent="0">
              <a:buNone/>
            </a:pPr>
            <a:r>
              <a:rPr lang="en-US" sz="1200" b="1" kern="0" spc="200" dirty="0">
                <a:solidFill>
                  <a:srgbClr val="6B4E9E"/>
                </a:solidFill>
                <a:latin typeface="Calibri" pitchFamily="34" charset="0"/>
                <a:ea typeface="Calibri" pitchFamily="34" charset="-122"/>
                <a:cs typeface="Calibri" pitchFamily="34" charset="-120"/>
              </a:rPr>
              <a:t>3.2 SEEING IT DIRECTLY</a:t>
            </a:r>
            <a:endParaRPr lang="en-US" sz="1200" dirty="0"/>
          </a:p>
        </p:txBody>
      </p:sp>
      <p:sp>
        <p:nvSpPr>
          <p:cNvPr id="3" name="Text 1"/>
          <p:cNvSpPr/>
          <p:nvPr/>
        </p:nvSpPr>
        <p:spPr>
          <a:xfrm>
            <a:off x="548640" y="594360"/>
            <a:ext cx="11064240" cy="548640"/>
          </a:xfrm>
          <a:prstGeom prst="rect">
            <a:avLst/>
          </a:prstGeom>
          <a:noFill/>
          <a:ln/>
        </p:spPr>
        <p:txBody>
          <a:bodyPr wrap="square" lIns="0" tIns="0" rIns="0" bIns="0" rtlCol="0" anchor="ctr"/>
          <a:lstStyle/>
          <a:p>
            <a:pPr marL="0" indent="0">
              <a:buNone/>
            </a:pPr>
            <a:r>
              <a:rPr lang="en-US" sz="2400" b="1" dirty="0">
                <a:solidFill>
                  <a:srgbClr val="2B1B3D"/>
                </a:solidFill>
                <a:latin typeface="Cambria" pitchFamily="34" charset="0"/>
                <a:ea typeface="Cambria" pitchFamily="34" charset="-122"/>
                <a:cs typeface="Cambria" pitchFamily="34" charset="-120"/>
              </a:rPr>
              <a:t>Decision Boundaries at Each Complexity</a:t>
            </a:r>
            <a:endParaRPr lang="en-US" sz="2400" dirty="0"/>
          </a:p>
        </p:txBody>
      </p:sp>
      <p:pic>
        <p:nvPicPr>
          <p:cNvPr id="4" name="Image 0" descr="diagrams/decision_boundaries.png"/>
          <p:cNvPicPr>
            <a:picLocks noChangeAspect="1"/>
          </p:cNvPicPr>
          <p:nvPr/>
        </p:nvPicPr>
        <p:blipFill>
          <a:blip r:embed="rId3"/>
          <a:stretch>
            <a:fillRect/>
          </a:stretch>
        </p:blipFill>
        <p:spPr>
          <a:xfrm>
            <a:off x="457200" y="1691640"/>
            <a:ext cx="11247120" cy="3749040"/>
          </a:xfrm>
          <a:prstGeom prst="rect">
            <a:avLst/>
          </a:prstGeom>
        </p:spPr>
      </p:pic>
      <p:sp>
        <p:nvSpPr>
          <p:cNvPr id="5" name="Text 2"/>
          <p:cNvSpPr/>
          <p:nvPr/>
        </p:nvSpPr>
        <p:spPr>
          <a:xfrm>
            <a:off x="11277295" y="6400800"/>
            <a:ext cx="548640" cy="320040"/>
          </a:xfrm>
          <a:prstGeom prst="rect">
            <a:avLst/>
          </a:prstGeom>
          <a:noFill/>
          <a:ln/>
        </p:spPr>
        <p:txBody>
          <a:bodyPr wrap="square" lIns="0" tIns="0" rIns="0" bIns="0" rtlCol="0" anchor="ctr"/>
          <a:lstStyle/>
          <a:p>
            <a:pPr marL="0" indent="0" algn="r">
              <a:buNone/>
            </a:pPr>
            <a:r>
              <a:rPr lang="en-US" sz="1000" dirty="0">
                <a:solidFill>
                  <a:srgbClr val="8A7F9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2B1B3D"/>
        </a:solidFill>
        <a:effectLst/>
      </p:bgPr>
    </p:bg>
    <p:spTree>
      <p:nvGrpSpPr>
        <p:cNvPr id="1" name=""/>
        <p:cNvGrpSpPr/>
        <p:nvPr/>
      </p:nvGrpSpPr>
      <p:grpSpPr>
        <a:xfrm>
          <a:off x="0" y="0"/>
          <a:ext cx="0" cy="0"/>
          <a:chOff x="0" y="0"/>
          <a:chExt cx="0" cy="0"/>
        </a:xfrm>
      </p:grpSpPr>
      <p:sp>
        <p:nvSpPr>
          <p:cNvPr id="2" name="Shape 0"/>
          <p:cNvSpPr/>
          <p:nvPr/>
        </p:nvSpPr>
        <p:spPr>
          <a:xfrm>
            <a:off x="9875520" y="4206240"/>
            <a:ext cx="3840480" cy="3840480"/>
          </a:xfrm>
          <a:prstGeom prst="ellipse">
            <a:avLst/>
          </a:prstGeom>
          <a:solidFill>
            <a:srgbClr val="6B4E9E">
              <a:alpha val="28000"/>
            </a:srgbClr>
          </a:solidFill>
          <a:ln/>
        </p:spPr>
      </p:sp>
      <p:sp>
        <p:nvSpPr>
          <p:cNvPr id="3" name="Text 1"/>
          <p:cNvSpPr/>
          <p:nvPr/>
        </p:nvSpPr>
        <p:spPr>
          <a:xfrm>
            <a:off x="822960" y="640080"/>
            <a:ext cx="5486400" cy="365760"/>
          </a:xfrm>
          <a:prstGeom prst="rect">
            <a:avLst/>
          </a:prstGeom>
          <a:noFill/>
          <a:ln/>
        </p:spPr>
        <p:txBody>
          <a:bodyPr wrap="square" lIns="0" tIns="0" rIns="0" bIns="0" rtlCol="0" anchor="ctr"/>
          <a:lstStyle/>
          <a:p>
            <a:pPr marL="0" indent="0">
              <a:buNone/>
            </a:pPr>
            <a:r>
              <a:rPr lang="en-US" sz="1300" b="1" kern="0" spc="300" dirty="0">
                <a:solidFill>
                  <a:srgbClr val="E8734A"/>
                </a:solidFill>
                <a:latin typeface="Calibri" pitchFamily="34" charset="0"/>
                <a:ea typeface="Calibri" pitchFamily="34" charset="-122"/>
                <a:cs typeface="Calibri" pitchFamily="34" charset="-120"/>
              </a:rPr>
              <a:t>KEY TAKEAWAYS</a:t>
            </a:r>
            <a:endParaRPr lang="en-US" sz="1300" dirty="0"/>
          </a:p>
        </p:txBody>
      </p:sp>
      <p:sp>
        <p:nvSpPr>
          <p:cNvPr id="4" name="Text 2"/>
          <p:cNvSpPr/>
          <p:nvPr/>
        </p:nvSpPr>
        <p:spPr>
          <a:xfrm>
            <a:off x="777240" y="1051560"/>
            <a:ext cx="91440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Summary</a:t>
            </a:r>
            <a:endParaRPr lang="en-US" sz="3200" dirty="0"/>
          </a:p>
        </p:txBody>
      </p:sp>
      <p:sp>
        <p:nvSpPr>
          <p:cNvPr id="5" name="Shape 3"/>
          <p:cNvSpPr/>
          <p:nvPr/>
        </p:nvSpPr>
        <p:spPr>
          <a:xfrm>
            <a:off x="822960" y="2194560"/>
            <a:ext cx="384048" cy="384048"/>
          </a:xfrm>
          <a:prstGeom prst="ellipse">
            <a:avLst/>
          </a:prstGeom>
          <a:solidFill>
            <a:srgbClr val="E8734A"/>
          </a:solidFill>
          <a:ln/>
        </p:spPr>
      </p:sp>
      <p:sp>
        <p:nvSpPr>
          <p:cNvPr id="6" name="Text 4"/>
          <p:cNvSpPr/>
          <p:nvPr/>
        </p:nvSpPr>
        <p:spPr>
          <a:xfrm>
            <a:off x="822960" y="2194560"/>
            <a:ext cx="384048" cy="384048"/>
          </a:xfrm>
          <a:prstGeom prst="rect">
            <a:avLst/>
          </a:prstGeom>
          <a:noFill/>
          <a:ln/>
        </p:spPr>
        <p:txBody>
          <a:bodyPr wrap="square" lIns="0" tIns="0" rIns="0" bIns="0" rtlCol="0" anchor="ctr"/>
          <a:lstStyle/>
          <a:p>
            <a:pPr marL="0" indent="0" algn="ctr">
              <a:buNone/>
            </a:pPr>
            <a:r>
              <a:rPr lang="en-US" sz="1400" b="1" dirty="0">
                <a:solidFill>
                  <a:srgbClr val="2B1B3D"/>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2167128"/>
            <a:ext cx="969264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single Train/Test split can give an unstable, misleading accuracy estimate</a:t>
            </a:r>
            <a:endParaRPr lang="en-US" sz="1400" dirty="0"/>
          </a:p>
        </p:txBody>
      </p:sp>
      <p:sp>
        <p:nvSpPr>
          <p:cNvPr id="8" name="Shape 6"/>
          <p:cNvSpPr/>
          <p:nvPr/>
        </p:nvSpPr>
        <p:spPr>
          <a:xfrm>
            <a:off x="822960" y="3063240"/>
            <a:ext cx="384048" cy="384048"/>
          </a:xfrm>
          <a:prstGeom prst="ellipse">
            <a:avLst/>
          </a:prstGeom>
          <a:solidFill>
            <a:srgbClr val="E8734A"/>
          </a:solidFill>
          <a:ln/>
        </p:spPr>
      </p:sp>
      <p:sp>
        <p:nvSpPr>
          <p:cNvPr id="9" name="Text 7"/>
          <p:cNvSpPr/>
          <p:nvPr/>
        </p:nvSpPr>
        <p:spPr>
          <a:xfrm>
            <a:off x="822960" y="3063240"/>
            <a:ext cx="384048" cy="384048"/>
          </a:xfrm>
          <a:prstGeom prst="rect">
            <a:avLst/>
          </a:prstGeom>
          <a:noFill/>
          <a:ln/>
        </p:spPr>
        <p:txBody>
          <a:bodyPr wrap="square" lIns="0" tIns="0" rIns="0" bIns="0" rtlCol="0" anchor="ctr"/>
          <a:lstStyle/>
          <a:p>
            <a:pPr marL="0" indent="0" algn="ctr">
              <a:buNone/>
            </a:pPr>
            <a:r>
              <a:rPr lang="en-US" sz="1400" b="1" dirty="0">
                <a:solidFill>
                  <a:srgbClr val="2B1B3D"/>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417320" y="3035808"/>
            <a:ext cx="969264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TimeSeriesSplit respects chronological order — always test on future, unseen data</a:t>
            </a:r>
            <a:endParaRPr lang="en-US" sz="1400" dirty="0"/>
          </a:p>
        </p:txBody>
      </p:sp>
      <p:sp>
        <p:nvSpPr>
          <p:cNvPr id="11" name="Shape 9"/>
          <p:cNvSpPr/>
          <p:nvPr/>
        </p:nvSpPr>
        <p:spPr>
          <a:xfrm>
            <a:off x="822960" y="3931920"/>
            <a:ext cx="384048" cy="384048"/>
          </a:xfrm>
          <a:prstGeom prst="ellipse">
            <a:avLst/>
          </a:prstGeom>
          <a:solidFill>
            <a:srgbClr val="E8734A"/>
          </a:solidFill>
          <a:ln/>
        </p:spPr>
      </p:sp>
      <p:sp>
        <p:nvSpPr>
          <p:cNvPr id="12" name="Text 10"/>
          <p:cNvSpPr/>
          <p:nvPr/>
        </p:nvSpPr>
        <p:spPr>
          <a:xfrm>
            <a:off x="822960" y="3931920"/>
            <a:ext cx="384048" cy="384048"/>
          </a:xfrm>
          <a:prstGeom prst="rect">
            <a:avLst/>
          </a:prstGeom>
          <a:noFill/>
          <a:ln/>
        </p:spPr>
        <p:txBody>
          <a:bodyPr wrap="square" lIns="0" tIns="0" rIns="0" bIns="0" rtlCol="0" anchor="ctr"/>
          <a:lstStyle/>
          <a:p>
            <a:pPr marL="0" indent="0" algn="ctr">
              <a:buNone/>
            </a:pPr>
            <a:r>
              <a:rPr lang="en-US" sz="1400" b="1" dirty="0">
                <a:solidFill>
                  <a:srgbClr val="2B1B3D"/>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417320" y="3904488"/>
            <a:ext cx="969264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Underfitting = high bias (too simple)  |  Overfitting = high variance (too complex)</a:t>
            </a:r>
            <a:endParaRPr lang="en-US" sz="1400" dirty="0"/>
          </a:p>
        </p:txBody>
      </p:sp>
      <p:sp>
        <p:nvSpPr>
          <p:cNvPr id="16" name="Text 14"/>
          <p:cNvSpPr/>
          <p:nvPr/>
        </p:nvSpPr>
        <p:spPr>
          <a:xfrm>
            <a:off x="1417320" y="4773168"/>
            <a:ext cx="9692640" cy="685800"/>
          </a:xfrm>
          <a:prstGeom prst="rect">
            <a:avLst/>
          </a:prstGeom>
          <a:noFill/>
          <a:ln/>
        </p:spPr>
        <p:txBody>
          <a:bodyPr wrap="square" lIns="0" tIns="0" rIns="0" bIns="0" rtlCol="0" anchor="ctr"/>
          <a:lstStyle/>
          <a:p>
            <a:pPr marL="0" indent="0">
              <a:buNone/>
            </a:pPr>
            <a:endParaRPr lang="en-US" sz="1400" dirty="0"/>
          </a:p>
        </p:txBody>
      </p:sp>
      <p:sp>
        <p:nvSpPr>
          <p:cNvPr id="17" name="Text 15"/>
          <p:cNvSpPr/>
          <p:nvPr/>
        </p:nvSpPr>
        <p:spPr>
          <a:xfrm>
            <a:off x="822960" y="617220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476</Words>
  <Application>Microsoft Office PowerPoint</Application>
  <PresentationFormat>Widescreen</PresentationFormat>
  <Paragraphs>75</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Validation, Overfitting &amp; Underfitting — Finance Case Study</dc:title>
  <dc:subject>PptxGenJS Presentation</dc:subject>
  <dc:creator>PptxGenJS</dc:creator>
  <cp:lastModifiedBy>Alishba asif</cp:lastModifiedBy>
  <cp:revision>3</cp:revision>
  <dcterms:created xsi:type="dcterms:W3CDTF">2026-07-15T06:11:48Z</dcterms:created>
  <dcterms:modified xsi:type="dcterms:W3CDTF">2026-07-15T07:19:03Z</dcterms:modified>
</cp:coreProperties>
</file>