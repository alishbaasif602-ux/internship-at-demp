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192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7626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749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ASSIGNMENT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Association Rule Mining — Finance Domain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3749040"/>
            <a:ext cx="2194560" cy="502920"/>
          </a:xfrm>
          <a:prstGeom prst="roundRect">
            <a:avLst>
              <a:gd name="adj" fmla="val 90909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17520" y="3749040"/>
            <a:ext cx="2194560" cy="502920"/>
          </a:xfrm>
          <a:prstGeom prst="roundRect">
            <a:avLst>
              <a:gd name="adj" fmla="val 90909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01752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94960" y="3749040"/>
            <a:ext cx="2194560" cy="502920"/>
          </a:xfrm>
          <a:prstGeom prst="roundRect">
            <a:avLst>
              <a:gd name="adj" fmla="val 90909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39496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 — Core Concepts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548640" y="1550000"/>
            <a:ext cx="3498240" cy="4500000"/>
          </a:xfrm>
          <a:prstGeom prst="roundRect">
            <a:avLst>
              <a:gd name="adj" fmla="val 4500"/>
            </a:avLst>
          </a:prstGeom>
          <a:solidFill>
            <a:srgbClr val="065A82">
              <a:alpha val="7000"/>
            </a:srgbClr>
          </a:solidFill>
          <a:ln/>
        </p:spPr>
      </p:sp>
      <p:sp>
        <p:nvSpPr>
          <p:cNvPr id="21" name="Dot"/>
          <p:cNvSpPr/>
          <p:nvPr/>
        </p:nvSpPr>
        <p:spPr>
          <a:xfrm>
            <a:off x="828640" y="1898560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"/>
          <p:cNvSpPr/>
          <p:nvPr/>
        </p:nvSpPr>
        <p:spPr>
          <a:xfrm>
            <a:off x="1161520" y="1830000"/>
            <a:ext cx="26053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</a:p>
        </p:txBody>
      </p:sp>
      <p:sp>
        <p:nvSpPr>
          <p:cNvPr id="23" name="Body"/>
          <p:cNvSpPr/>
          <p:nvPr/>
        </p:nvSpPr>
        <p:spPr>
          <a:xfrm>
            <a:off x="828640" y="2350000"/>
            <a:ext cx="29382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on unlabeled data. The model finds hidden patterns, groupings, or relationships on its own — there is no predefined output label to predict.</a:t>
            </a:r>
          </a:p>
        </p:txBody>
      </p:sp>
      <p:sp>
        <p:nvSpPr>
          <p:cNvPr id="24" name="Card"/>
          <p:cNvSpPr/>
          <p:nvPr/>
        </p:nvSpPr>
        <p:spPr>
          <a:xfrm>
            <a:off x="6728880" y="1436984"/>
            <a:ext cx="3498240" cy="4500000"/>
          </a:xfrm>
          <a:prstGeom prst="roundRect">
            <a:avLst>
              <a:gd name="adj" fmla="val 4500"/>
            </a:avLst>
          </a:prstGeom>
          <a:solidFill>
            <a:srgbClr val="1C7293">
              <a:alpha val="7000"/>
            </a:srgbClr>
          </a:solidFill>
          <a:ln/>
        </p:spPr>
      </p:sp>
      <p:sp>
        <p:nvSpPr>
          <p:cNvPr id="25" name="Dot"/>
          <p:cNvSpPr/>
          <p:nvPr/>
        </p:nvSpPr>
        <p:spPr>
          <a:xfrm>
            <a:off x="6970320" y="183000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"/>
          <p:cNvSpPr/>
          <p:nvPr/>
        </p:nvSpPr>
        <p:spPr>
          <a:xfrm>
            <a:off x="7341760" y="1761344"/>
            <a:ext cx="26053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USED</a:t>
            </a:r>
          </a:p>
        </p:txBody>
      </p:sp>
      <p:sp>
        <p:nvSpPr>
          <p:cNvPr id="27" name="Bullets"/>
          <p:cNvSpPr/>
          <p:nvPr/>
        </p:nvSpPr>
        <p:spPr>
          <a:xfrm>
            <a:off x="7008880" y="2333492"/>
            <a:ext cx="29382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Bef>
                <a:spcPts val="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profiling</a:t>
            </a:r>
          </a:p>
          <a:p>
            <a:pPr marL="228600" indent="-228600" algn="l">
              <a:spcBef>
                <a:spcPts val="13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/ cross-sell analysis</a:t>
            </a:r>
          </a:p>
          <a:p>
            <a:pPr marL="228600" indent="-228600" algn="l">
              <a:spcBef>
                <a:spcPts val="13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fraud detection</a:t>
            </a:r>
          </a:p>
          <a:p>
            <a:pPr marL="228600" indent="-228600" algn="l">
              <a:spcBef>
                <a:spcPts val="13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— Choosing 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pic>
        <p:nvPicPr>
          <p:cNvPr id="6" name="Image 1" descr="/home/claude/unsupervised/nb_assets/plot_01_cell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50200"/>
            <a:ext cx="6492240" cy="4937760"/>
          </a:xfrm>
          <a:prstGeom prst="rect">
            <a:avLst/>
          </a:prstGeom>
        </p:spPr>
      </p:pic>
      <p:sp>
        <p:nvSpPr>
          <p:cNvPr id="7" name="Insight Panel"/>
          <p:cNvSpPr/>
          <p:nvPr/>
        </p:nvSpPr>
        <p:spPr>
          <a:xfrm>
            <a:off x="7290880" y="1420000"/>
            <a:ext cx="4352480" cy="1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gives the best trade-off (Silhouette ≈ 0.59)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locked in before running K-Means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 (k=5)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pic>
        <p:nvPicPr>
          <p:cNvPr id="6" name="Image 1" descr="/home/claude/unsupervised/nb_assets/plot_02_cell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04480"/>
            <a:ext cx="5577840" cy="5029200"/>
          </a:xfrm>
          <a:prstGeom prst="rect">
            <a:avLst/>
          </a:prstGeom>
        </p:spPr>
      </p:pic>
      <p:sp>
        <p:nvSpPr>
          <p:cNvPr id="7" name="Insight Panel"/>
          <p:cNvSpPr/>
          <p:nvPr/>
        </p:nvSpPr>
        <p:spPr>
          <a:xfrm>
            <a:off x="6376480" y="1420000"/>
            <a:ext cx="5266880" cy="1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</a:p>
          <a:p>
            <a:pPr marL="228600" indent="-228600" algn="l">
              <a:spcBef>
                <a:spcPts val="24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grouped into 5 distinct segments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separated by balance and spending behaviour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targeted marketing per segment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Clustering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</a:t>
            </a:r>
            <a:endParaRPr lang="en-US" sz="1200" dirty="0"/>
          </a:p>
        </p:txBody>
      </p:sp>
      <p:pic>
        <p:nvPicPr>
          <p:cNvPr id="6" name="Image 1" descr="/home/claude/unsupervised/nb_assets/plot_03_cell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02365"/>
            <a:ext cx="6600000" cy="4033430"/>
          </a:xfrm>
          <a:prstGeom prst="rect">
            <a:avLst/>
          </a:prstGeom>
        </p:spPr>
      </p:pic>
      <p:sp>
        <p:nvSpPr>
          <p:cNvPr id="7" name="Insight Panel"/>
          <p:cNvSpPr/>
          <p:nvPr/>
        </p:nvSpPr>
        <p:spPr>
          <a:xfrm>
            <a:off x="7398640" y="1420000"/>
            <a:ext cx="4244720" cy="1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</a:p>
          <a:p>
            <a:pPr marL="228600" indent="-228600" algn="l">
              <a:spcBef>
                <a:spcPts val="24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built using Ward's linkage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5 natural clusters, no k needed upfront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Cross-validates the K-Means segmentation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vs. Hierarchical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TWO ALGORITHMS</a:t>
            </a:r>
            <a:endParaRPr lang="en-US" sz="1200" dirty="0"/>
          </a:p>
        </p:txBody>
      </p:sp>
      <p:pic>
        <p:nvPicPr>
          <p:cNvPr id="6" name="Image 1" descr="/home/claude/unsupervised/nb_assets/plot_04_cell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4380"/>
            <a:ext cx="6600000" cy="2629400"/>
          </a:xfrm>
          <a:prstGeom prst="rect">
            <a:avLst/>
          </a:prstGeom>
        </p:spPr>
      </p:pic>
      <p:sp>
        <p:nvSpPr>
          <p:cNvPr id="7" name="Insight Panel"/>
          <p:cNvSpPr/>
          <p:nvPr/>
        </p:nvSpPr>
        <p:spPr>
          <a:xfrm>
            <a:off x="7398640" y="1420000"/>
            <a:ext cx="4244720" cy="1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</a:p>
          <a:p>
            <a:pPr marL="228600" indent="-228600" algn="l">
              <a:spcBef>
                <a:spcPts val="24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produce highly similar segments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 K-Means 0.59 vs. Hierarchical 0.56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preferred for speed on larger datasets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Rule Mining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PRODUCT HOLDINGS</a:t>
            </a:r>
            <a:endParaRPr lang="en-US" sz="1200" dirty="0"/>
          </a:p>
        </p:txBody>
      </p:sp>
      <p:pic>
        <p:nvPicPr>
          <p:cNvPr id="6" name="Image 1" descr="/home/claude/unsupervised/nb_assets/plot_05_cell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72528"/>
            <a:ext cx="6600000" cy="3893105"/>
          </a:xfrm>
          <a:prstGeom prst="rect">
            <a:avLst/>
          </a:prstGeom>
        </p:spPr>
      </p:pic>
      <p:sp>
        <p:nvSpPr>
          <p:cNvPr id="7" name="Insight Panel"/>
          <p:cNvSpPr/>
          <p:nvPr/>
        </p:nvSpPr>
        <p:spPr>
          <a:xfrm>
            <a:off x="7398640" y="1420000"/>
            <a:ext cx="4244720" cy="1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</a:p>
          <a:p>
            <a:pPr marL="228600" indent="-228600" algn="l">
              <a:spcBef>
                <a:spcPts val="24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applied to customer product-holding data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itemsets mined above a minimum support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products are commonly held together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Association Rules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· BY LIFT</a:t>
            </a:r>
            <a:endParaRPr lang="en-US" sz="1200" dirty="0"/>
          </a:p>
        </p:txBody>
      </p:sp>
      <p:pic>
        <p:nvPicPr>
          <p:cNvPr id="6" name="Image 1" descr="/home/claude/unsupervised/nb_assets/plot_06_cell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00020"/>
            <a:ext cx="6600000" cy="3838120"/>
          </a:xfrm>
          <a:prstGeom prst="rect">
            <a:avLst/>
          </a:prstGeom>
        </p:spPr>
      </p:pic>
      <p:sp>
        <p:nvSpPr>
          <p:cNvPr id="7" name="Insight Panel"/>
          <p:cNvSpPr/>
          <p:nvPr/>
        </p:nvSpPr>
        <p:spPr>
          <a:xfrm>
            <a:off x="7398640" y="1420000"/>
            <a:ext cx="4244720" cy="1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</a:p>
          <a:p>
            <a:pPr marL="228600" indent="-228600" algn="l">
              <a:spcBef>
                <a:spcPts val="24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ranked by lift to find strongest links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→ Mortgage is the top rule (lift 3.3)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strongest cross-sell opportunities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vs. Confidence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= LIFT</a:t>
            </a:r>
            <a:endParaRPr lang="en-US" sz="1200" dirty="0"/>
          </a:p>
        </p:txBody>
      </p:sp>
      <p:pic>
        <p:nvPicPr>
          <p:cNvPr id="6" name="Image 1" descr="/home/claude/unsupervised/nb_assets/plot_07_cell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04480"/>
            <a:ext cx="6309360" cy="5029200"/>
          </a:xfrm>
          <a:prstGeom prst="rect">
            <a:avLst/>
          </a:prstGeom>
        </p:spPr>
      </p:pic>
      <p:sp>
        <p:nvSpPr>
          <p:cNvPr id="7" name="Insight Panel"/>
          <p:cNvSpPr/>
          <p:nvPr/>
        </p:nvSpPr>
        <p:spPr>
          <a:xfrm>
            <a:off x="7108000" y="1420000"/>
            <a:ext cx="4535360" cy="1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</a:p>
          <a:p>
            <a:pPr marL="228600" indent="-228600" algn="l">
              <a:spcBef>
                <a:spcPts val="24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bubble represents one association rule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encodes rule strength (lift)</a:t>
            </a:r>
          </a:p>
          <a:p>
            <a:pPr marL="228600" indent="-228600" algn="l">
              <a:spcBef>
                <a:spcPts val="1600"/>
              </a:spcBef>
              <a:buClr>
                <a:srgbClr val="1C7293"/>
              </a:buClr>
              <a:buFont typeface="Arial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prioritize rules for business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33272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Result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</a:rPr>
                        <a:t>K-Means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9"/>
                          </a:solidFill>
                        </a:rPr>
                        <a:t>Customer Segmentation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9"/>
                          </a:solidFill>
                        </a:rPr>
                        <a:t>5 segments, Silhouette 0.59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</a:rPr>
                        <a:t>Hierarchical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9"/>
                          </a:solidFill>
                        </a:rPr>
                        <a:t>Same segmentation, no k needed upfront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9"/>
                          </a:solidFill>
                        </a:rPr>
                        <a:t>Silhouette 0.56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</a:rPr>
                        <a:t>Apriori (Assoc. Rules)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9"/>
                          </a:solidFill>
                        </a:rPr>
                        <a:t>Cross-sell recommendations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9"/>
                          </a:solidFill>
                        </a:rPr>
                        <a:t>Insurance → Mortgage (lift 3.3)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ight Panel">
            <a:extLst>
              <a:ext uri="{FF2B5EF4-FFF2-40B4-BE49-F238E27FC236}">
                <a16:creationId xmlns:a16="http://schemas.microsoft.com/office/drawing/2014/main" id="{3C419D01-81A6-E01B-317E-B61ED833FE07}"/>
              </a:ext>
            </a:extLst>
          </p:cNvPr>
          <p:cNvSpPr/>
          <p:nvPr/>
        </p:nvSpPr>
        <p:spPr>
          <a:xfrm>
            <a:off x="3828320" y="2704270"/>
            <a:ext cx="4535360" cy="1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1B2733"/>
                </a:solidFill>
                <a:latin typeface="Broadway" panose="04040905080B02020502" pitchFamily="82" charset="0"/>
                <a:ea typeface="Calibri" pitchFamily="34" charset="-122"/>
                <a:cs typeface="Calibri" pitchFamily="34" charset="-12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89351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326</Words>
  <Application>Microsoft Office PowerPoint</Application>
  <PresentationFormat>Widescreen</PresentationFormat>
  <Paragraphs>80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Broadway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 — Clustering &amp; Association Rules</dc:title>
  <dc:subject>PptxGenJS Presentation</dc:subject>
  <dc:creator>Assignment</dc:creator>
  <cp:lastModifiedBy>Alishba asif</cp:lastModifiedBy>
  <cp:revision>3</cp:revision>
  <dcterms:created xsi:type="dcterms:W3CDTF">2026-07-15T19:59:24Z</dcterms:created>
  <dcterms:modified xsi:type="dcterms:W3CDTF">2026-07-16T05:36:30Z</dcterms:modified>
</cp:coreProperties>
</file>